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6" r:id="rId8"/>
  </p:sldIdLst>
  <p:sldSz cx="18288000" cy="10287000"/>
  <p:notesSz cx="6858000" cy="9144000"/>
  <p:embeddedFontLst>
    <p:embeddedFont>
      <p:font typeface="Canva Sans" panose="020B0604020202020204" charset="0"/>
      <p:regular r:id="rId9"/>
    </p:embeddedFont>
    <p:embeddedFont>
      <p:font typeface="Canva Sans Bold" panose="020B0604020202020204" charset="0"/>
      <p:regular r:id="rId10"/>
    </p:embeddedFont>
    <p:embeddedFont>
      <p:font typeface="Montserrat" panose="00000500000000000000" pitchFamily="2" charset="0"/>
      <p:regular r:id="rId11"/>
      <p:bold r:id="rId12"/>
      <p:italic r:id="rId13"/>
      <p:boldItalic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37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H KE TING" userId="40fef732-b837-491d-b009-18c893e995dd" providerId="ADAL" clId="{5C74FD94-D309-480F-B00B-160A24EA88FD}"/>
    <pc:docChg chg="delSld">
      <pc:chgData name="TOH KE TING" userId="40fef732-b837-491d-b009-18c893e995dd" providerId="ADAL" clId="{5C74FD94-D309-480F-B00B-160A24EA88FD}" dt="2026-09-22T11:15:28.995" v="5" actId="2696"/>
      <pc:docMkLst>
        <pc:docMk/>
      </pc:docMkLst>
      <pc:sldChg chg="del">
        <pc:chgData name="TOH KE TING" userId="40fef732-b837-491d-b009-18c893e995dd" providerId="ADAL" clId="{5C74FD94-D309-480F-B00B-160A24EA88FD}" dt="2026-09-22T11:13:49.993" v="0" actId="2696"/>
        <pc:sldMkLst>
          <pc:docMk/>
          <pc:sldMk cId="0" sldId="262"/>
        </pc:sldMkLst>
      </pc:sldChg>
      <pc:sldChg chg="del">
        <pc:chgData name="TOH KE TING" userId="40fef732-b837-491d-b009-18c893e995dd" providerId="ADAL" clId="{5C74FD94-D309-480F-B00B-160A24EA88FD}" dt="2026-09-22T11:13:52.883" v="1" actId="2696"/>
        <pc:sldMkLst>
          <pc:docMk/>
          <pc:sldMk cId="0" sldId="263"/>
        </pc:sldMkLst>
      </pc:sldChg>
      <pc:sldChg chg="del">
        <pc:chgData name="TOH KE TING" userId="40fef732-b837-491d-b009-18c893e995dd" providerId="ADAL" clId="{5C74FD94-D309-480F-B00B-160A24EA88FD}" dt="2026-09-22T11:14:13.905" v="2" actId="2696"/>
        <pc:sldMkLst>
          <pc:docMk/>
          <pc:sldMk cId="0" sldId="264"/>
        </pc:sldMkLst>
      </pc:sldChg>
      <pc:sldChg chg="del">
        <pc:chgData name="TOH KE TING" userId="40fef732-b837-491d-b009-18c893e995dd" providerId="ADAL" clId="{5C74FD94-D309-480F-B00B-160A24EA88FD}" dt="2026-09-22T11:14:44.404" v="3" actId="2696"/>
        <pc:sldMkLst>
          <pc:docMk/>
          <pc:sldMk cId="0" sldId="265"/>
        </pc:sldMkLst>
      </pc:sldChg>
      <pc:sldChg chg="del">
        <pc:chgData name="TOH KE TING" userId="40fef732-b837-491d-b009-18c893e995dd" providerId="ADAL" clId="{5C74FD94-D309-480F-B00B-160A24EA88FD}" dt="2026-09-22T11:15:10.310" v="4" actId="2696"/>
        <pc:sldMkLst>
          <pc:docMk/>
          <pc:sldMk cId="0" sldId="266"/>
        </pc:sldMkLst>
      </pc:sldChg>
      <pc:sldChg chg="del">
        <pc:chgData name="TOH KE TING" userId="40fef732-b837-491d-b009-18c893e995dd" providerId="ADAL" clId="{5C74FD94-D309-480F-B00B-160A24EA88FD}" dt="2026-09-22T11:15:28.995" v="5" actId="2696"/>
        <pc:sldMkLst>
          <pc:docMk/>
          <pc:sldMk cId="0" sldId="26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086100" y="685800"/>
            <a:ext cx="12138660" cy="493776"/>
            <a:chOff x="0" y="0"/>
            <a:chExt cx="16184880" cy="65836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184880" cy="658368"/>
            </a:xfrm>
            <a:custGeom>
              <a:avLst/>
              <a:gdLst/>
              <a:ahLst/>
              <a:cxnLst/>
              <a:rect l="l" t="t" r="r" b="b"/>
              <a:pathLst>
                <a:path w="16184880" h="658368">
                  <a:moveTo>
                    <a:pt x="0" y="0"/>
                  </a:moveTo>
                  <a:lnTo>
                    <a:pt x="16184880" y="0"/>
                  </a:lnTo>
                  <a:lnTo>
                    <a:pt x="1618488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29007" b="-429007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16184880" cy="65836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3150" b="1">
                  <a:solidFill>
                    <a:srgbClr val="32102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ST1504 • DEEP LEARNING CA2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223260" y="1303020"/>
            <a:ext cx="11864340" cy="493776"/>
            <a:chOff x="0" y="0"/>
            <a:chExt cx="15819120" cy="65836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819120" cy="658368"/>
            </a:xfrm>
            <a:custGeom>
              <a:avLst/>
              <a:gdLst/>
              <a:ahLst/>
              <a:cxnLst/>
              <a:rect l="l" t="t" r="r" b="b"/>
              <a:pathLst>
                <a:path w="15819120" h="658368">
                  <a:moveTo>
                    <a:pt x="0" y="0"/>
                  </a:moveTo>
                  <a:lnTo>
                    <a:pt x="15819120" y="0"/>
                  </a:lnTo>
                  <a:lnTo>
                    <a:pt x="1581912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18182" b="-418182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15819120" cy="65836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19"/>
                </a:lnSpc>
              </a:pPr>
              <a:r>
                <a:rPr lang="en-US" sz="2850" b="1">
                  <a:solidFill>
                    <a:srgbClr val="C56D91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Generative Modelling &amp; Reinforcement Learning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04975" y="2404491"/>
            <a:ext cx="6602730" cy="814578"/>
            <a:chOff x="0" y="0"/>
            <a:chExt cx="8803640" cy="108610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803640" cy="1086104"/>
            </a:xfrm>
            <a:custGeom>
              <a:avLst/>
              <a:gdLst/>
              <a:ahLst/>
              <a:cxnLst/>
              <a:rect l="l" t="t" r="r" b="b"/>
              <a:pathLst>
                <a:path w="8803640" h="1086104">
                  <a:moveTo>
                    <a:pt x="0" y="224663"/>
                  </a:moveTo>
                  <a:cubicBezTo>
                    <a:pt x="0" y="100584"/>
                    <a:pt x="100584" y="0"/>
                    <a:pt x="224663" y="0"/>
                  </a:cubicBezTo>
                  <a:lnTo>
                    <a:pt x="8578977" y="0"/>
                  </a:lnTo>
                  <a:cubicBezTo>
                    <a:pt x="8703056" y="0"/>
                    <a:pt x="8803640" y="100584"/>
                    <a:pt x="8803640" y="224663"/>
                  </a:cubicBezTo>
                  <a:lnTo>
                    <a:pt x="8803640" y="861441"/>
                  </a:lnTo>
                  <a:cubicBezTo>
                    <a:pt x="8803640" y="985520"/>
                    <a:pt x="8703056" y="1086104"/>
                    <a:pt x="8578977" y="1086104"/>
                  </a:cubicBezTo>
                  <a:lnTo>
                    <a:pt x="224663" y="1086104"/>
                  </a:lnTo>
                  <a:cubicBezTo>
                    <a:pt x="100584" y="1086104"/>
                    <a:pt x="0" y="985520"/>
                    <a:pt x="0" y="861441"/>
                  </a:cubicBezTo>
                  <a:close/>
                </a:path>
              </a:pathLst>
            </a:custGeom>
            <a:solidFill>
              <a:srgbClr val="5A0B3A"/>
            </a:solidFill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920240" y="2578608"/>
            <a:ext cx="6172200" cy="452628"/>
            <a:chOff x="0" y="0"/>
            <a:chExt cx="8229600" cy="60350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229600" cy="603504"/>
            </a:xfrm>
            <a:custGeom>
              <a:avLst/>
              <a:gdLst/>
              <a:ahLst/>
              <a:cxnLst/>
              <a:rect l="l" t="t" r="r" b="b"/>
              <a:pathLst>
                <a:path w="8229600" h="603504">
                  <a:moveTo>
                    <a:pt x="0" y="0"/>
                  </a:moveTo>
                  <a:lnTo>
                    <a:pt x="8229600" y="0"/>
                  </a:lnTo>
                  <a:lnTo>
                    <a:pt x="8229600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15705" b="-215705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8229600" cy="6035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Part A - CIFAR-10 Generation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307479" y="275888"/>
            <a:ext cx="17738586" cy="9746317"/>
            <a:chOff x="0" y="0"/>
            <a:chExt cx="23744936" cy="1304645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3744937" cy="13046456"/>
            </a:xfrm>
            <a:custGeom>
              <a:avLst/>
              <a:gdLst/>
              <a:ahLst/>
              <a:cxnLst/>
              <a:rect l="l" t="t" r="r" b="b"/>
              <a:pathLst>
                <a:path w="23744937" h="13046456">
                  <a:moveTo>
                    <a:pt x="0" y="0"/>
                  </a:moveTo>
                  <a:lnTo>
                    <a:pt x="23744937" y="0"/>
                  </a:lnTo>
                  <a:lnTo>
                    <a:pt x="23744937" y="13046456"/>
                  </a:lnTo>
                  <a:lnTo>
                    <a:pt x="0" y="130464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495" r="-20495"/>
              </a:stretch>
            </a:blipFill>
            <a:ln w="19050" cap="sq">
              <a:solidFill>
                <a:srgbClr val="E9CDD7"/>
              </a:solidFill>
              <a:prstDash val="solid"/>
              <a:miter/>
            </a:ln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59847" y="3391567"/>
            <a:ext cx="7906703" cy="5753290"/>
            <a:chOff x="0" y="0"/>
            <a:chExt cx="10542270" cy="767105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542270" cy="7671054"/>
            </a:xfrm>
            <a:custGeom>
              <a:avLst/>
              <a:gdLst/>
              <a:ahLst/>
              <a:cxnLst/>
              <a:rect l="l" t="t" r="r" b="b"/>
              <a:pathLst>
                <a:path w="10542270" h="7671054">
                  <a:moveTo>
                    <a:pt x="0" y="367030"/>
                  </a:moveTo>
                  <a:cubicBezTo>
                    <a:pt x="0" y="164338"/>
                    <a:pt x="164338" y="0"/>
                    <a:pt x="367030" y="0"/>
                  </a:cubicBezTo>
                  <a:lnTo>
                    <a:pt x="10175240" y="0"/>
                  </a:lnTo>
                  <a:cubicBezTo>
                    <a:pt x="10377932" y="0"/>
                    <a:pt x="10542270" y="164338"/>
                    <a:pt x="10542270" y="367030"/>
                  </a:cubicBezTo>
                  <a:lnTo>
                    <a:pt x="10542270" y="7304024"/>
                  </a:lnTo>
                  <a:cubicBezTo>
                    <a:pt x="10542270" y="7506716"/>
                    <a:pt x="10377932" y="7671054"/>
                    <a:pt x="10175240" y="7671054"/>
                  </a:cubicBezTo>
                  <a:lnTo>
                    <a:pt x="367030" y="7671054"/>
                  </a:lnTo>
                  <a:cubicBezTo>
                    <a:pt x="164338" y="7671054"/>
                    <a:pt x="0" y="7506716"/>
                    <a:pt x="0" y="7304024"/>
                  </a:cubicBezTo>
                  <a:close/>
                </a:path>
              </a:pathLst>
            </a:custGeom>
            <a:solidFill>
              <a:srgbClr val="FFF9FB"/>
            </a:solidFill>
            <a:ln w="20003" cap="sq">
              <a:solidFill>
                <a:srgbClr val="F0A7C0"/>
              </a:solidFill>
              <a:prstDash val="solid"/>
              <a:miter/>
            </a:ln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659636" y="4050411"/>
            <a:ext cx="6707124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32102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Goal: Generate diverse and plausible</a:t>
            </a:r>
          </a:p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32102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CIFAR-10-like images.</a:t>
            </a:r>
          </a:p>
        </p:txBody>
      </p:sp>
      <p:sp>
        <p:nvSpPr>
          <p:cNvPr id="18" name="AutoShape 18"/>
          <p:cNvSpPr/>
          <p:nvPr/>
        </p:nvSpPr>
        <p:spPr>
          <a:xfrm rot="23340">
            <a:off x="1938118" y="5385625"/>
            <a:ext cx="2803465" cy="0"/>
          </a:xfrm>
          <a:prstGeom prst="line">
            <a:avLst/>
          </a:prstGeom>
          <a:ln w="9525" cap="rnd">
            <a:solidFill>
              <a:srgbClr val="E9A8BD">
                <a:alpha val="7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SG"/>
          </a:p>
        </p:txBody>
      </p:sp>
      <p:grpSp>
        <p:nvGrpSpPr>
          <p:cNvPr id="19" name="Group 19"/>
          <p:cNvGrpSpPr/>
          <p:nvPr/>
        </p:nvGrpSpPr>
        <p:grpSpPr>
          <a:xfrm>
            <a:off x="4907661" y="5305425"/>
            <a:ext cx="169926" cy="169926"/>
            <a:chOff x="0" y="0"/>
            <a:chExt cx="226568" cy="22656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26568" cy="226568"/>
            </a:xfrm>
            <a:custGeom>
              <a:avLst/>
              <a:gdLst/>
              <a:ahLst/>
              <a:cxnLst/>
              <a:rect l="l" t="t" r="r" b="b"/>
              <a:pathLst>
                <a:path w="226568" h="226568">
                  <a:moveTo>
                    <a:pt x="0" y="113284"/>
                  </a:moveTo>
                  <a:cubicBezTo>
                    <a:pt x="0" y="50673"/>
                    <a:pt x="50673" y="0"/>
                    <a:pt x="113284" y="0"/>
                  </a:cubicBezTo>
                  <a:cubicBezTo>
                    <a:pt x="175895" y="0"/>
                    <a:pt x="226568" y="50673"/>
                    <a:pt x="226568" y="113284"/>
                  </a:cubicBezTo>
                  <a:cubicBezTo>
                    <a:pt x="226568" y="175895"/>
                    <a:pt x="175895" y="226568"/>
                    <a:pt x="113284" y="226568"/>
                  </a:cubicBezTo>
                  <a:cubicBezTo>
                    <a:pt x="50673" y="226568"/>
                    <a:pt x="0" y="175895"/>
                    <a:pt x="0" y="113284"/>
                  </a:cubicBezTo>
                  <a:close/>
                </a:path>
              </a:pathLst>
            </a:custGeom>
            <a:solidFill>
              <a:srgbClr val="E9A8BD">
                <a:alpha val="90196"/>
              </a:srgbClr>
            </a:solidFill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21" name="AutoShape 21"/>
          <p:cNvSpPr/>
          <p:nvPr/>
        </p:nvSpPr>
        <p:spPr>
          <a:xfrm rot="23460">
            <a:off x="5243674" y="5385625"/>
            <a:ext cx="2789749" cy="0"/>
          </a:xfrm>
          <a:prstGeom prst="line">
            <a:avLst/>
          </a:prstGeom>
          <a:ln w="9525" cap="rnd">
            <a:solidFill>
              <a:srgbClr val="E9A8BD">
                <a:alpha val="7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SG"/>
          </a:p>
        </p:txBody>
      </p:sp>
      <p:grpSp>
        <p:nvGrpSpPr>
          <p:cNvPr id="22" name="Group 22"/>
          <p:cNvGrpSpPr/>
          <p:nvPr/>
        </p:nvGrpSpPr>
        <p:grpSpPr>
          <a:xfrm>
            <a:off x="1794129" y="6142101"/>
            <a:ext cx="142494" cy="142494"/>
            <a:chOff x="0" y="0"/>
            <a:chExt cx="189992" cy="18999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89992" cy="189992"/>
            </a:xfrm>
            <a:custGeom>
              <a:avLst/>
              <a:gdLst/>
              <a:ahLst/>
              <a:cxnLst/>
              <a:rect l="l" t="t" r="r" b="b"/>
              <a:pathLst>
                <a:path w="189992" h="189992">
                  <a:moveTo>
                    <a:pt x="0" y="94996"/>
                  </a:moveTo>
                  <a:cubicBezTo>
                    <a:pt x="0" y="42545"/>
                    <a:pt x="42545" y="0"/>
                    <a:pt x="94996" y="0"/>
                  </a:cubicBezTo>
                  <a:cubicBezTo>
                    <a:pt x="147447" y="0"/>
                    <a:pt x="189992" y="42545"/>
                    <a:pt x="189992" y="94996"/>
                  </a:cubicBezTo>
                  <a:cubicBezTo>
                    <a:pt x="189992" y="147447"/>
                    <a:pt x="147447" y="189992"/>
                    <a:pt x="94996" y="189992"/>
                  </a:cubicBezTo>
                  <a:cubicBezTo>
                    <a:pt x="42545" y="189992"/>
                    <a:pt x="0" y="147447"/>
                    <a:pt x="0" y="94996"/>
                  </a:cubicBezTo>
                  <a:close/>
                </a:path>
              </a:pathLst>
            </a:custGeom>
            <a:solidFill>
              <a:srgbClr val="5A0B3A"/>
            </a:solidFill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2249424" y="6007608"/>
            <a:ext cx="6268212" cy="456638"/>
            <a:chOff x="0" y="0"/>
            <a:chExt cx="8357616" cy="608851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357616" cy="608851"/>
            </a:xfrm>
            <a:custGeom>
              <a:avLst/>
              <a:gdLst/>
              <a:ahLst/>
              <a:cxnLst/>
              <a:rect l="l" t="t" r="r" b="b"/>
              <a:pathLst>
                <a:path w="8357616" h="608851">
                  <a:moveTo>
                    <a:pt x="0" y="0"/>
                  </a:moveTo>
                  <a:lnTo>
                    <a:pt x="8357616" y="0"/>
                  </a:lnTo>
                  <a:lnTo>
                    <a:pt x="8357616" y="608851"/>
                  </a:lnTo>
                  <a:lnTo>
                    <a:pt x="0" y="60885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22413" b="-212523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0"/>
              <a:ext cx="8357616" cy="6088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72"/>
                </a:lnSpc>
              </a:pPr>
              <a:r>
                <a:rPr lang="en-US" sz="2310">
                  <a:solidFill>
                    <a:srgbClr val="32102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Develop and compare </a:t>
              </a:r>
              <a:r>
                <a:rPr lang="en-US" sz="2310" b="1">
                  <a:solidFill>
                    <a:srgbClr val="32102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VAE </a:t>
              </a:r>
              <a:r>
                <a:rPr lang="en-US" sz="2310">
                  <a:solidFill>
                    <a:srgbClr val="32102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and </a:t>
              </a:r>
              <a:r>
                <a:rPr lang="en-US" sz="2310" b="1">
                  <a:solidFill>
                    <a:srgbClr val="32102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DCGAN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794129" y="6855333"/>
            <a:ext cx="142494" cy="142494"/>
            <a:chOff x="0" y="0"/>
            <a:chExt cx="189992" cy="18999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89992" cy="189992"/>
            </a:xfrm>
            <a:custGeom>
              <a:avLst/>
              <a:gdLst/>
              <a:ahLst/>
              <a:cxnLst/>
              <a:rect l="l" t="t" r="r" b="b"/>
              <a:pathLst>
                <a:path w="189992" h="189992">
                  <a:moveTo>
                    <a:pt x="0" y="94996"/>
                  </a:moveTo>
                  <a:cubicBezTo>
                    <a:pt x="0" y="42545"/>
                    <a:pt x="42545" y="0"/>
                    <a:pt x="94996" y="0"/>
                  </a:cubicBezTo>
                  <a:cubicBezTo>
                    <a:pt x="147447" y="0"/>
                    <a:pt x="189992" y="42545"/>
                    <a:pt x="189992" y="94996"/>
                  </a:cubicBezTo>
                  <a:cubicBezTo>
                    <a:pt x="189992" y="147447"/>
                    <a:pt x="147447" y="189992"/>
                    <a:pt x="94996" y="189992"/>
                  </a:cubicBezTo>
                  <a:cubicBezTo>
                    <a:pt x="42545" y="189992"/>
                    <a:pt x="0" y="147447"/>
                    <a:pt x="0" y="94996"/>
                  </a:cubicBezTo>
                  <a:close/>
                </a:path>
              </a:pathLst>
            </a:custGeom>
            <a:solidFill>
              <a:srgbClr val="5A0B3A"/>
            </a:solidFill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2249424" y="6526811"/>
            <a:ext cx="6268212" cy="799538"/>
            <a:chOff x="0" y="0"/>
            <a:chExt cx="8357616" cy="1066051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357616" cy="1066051"/>
            </a:xfrm>
            <a:custGeom>
              <a:avLst/>
              <a:gdLst/>
              <a:ahLst/>
              <a:cxnLst/>
              <a:rect l="l" t="t" r="r" b="b"/>
              <a:pathLst>
                <a:path w="8357616" h="1066051">
                  <a:moveTo>
                    <a:pt x="0" y="0"/>
                  </a:moveTo>
                  <a:lnTo>
                    <a:pt x="8357616" y="0"/>
                  </a:lnTo>
                  <a:lnTo>
                    <a:pt x="8357616" y="1066051"/>
                  </a:lnTo>
                  <a:lnTo>
                    <a:pt x="0" y="106605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7026" b="-78490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0"/>
              <a:ext cx="8357616" cy="10660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72"/>
                </a:lnSpc>
              </a:pPr>
              <a:r>
                <a:rPr lang="en-US" sz="2310">
                  <a:solidFill>
                    <a:srgbClr val="32102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Select the stronger baseline for further improvement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794129" y="7568565"/>
            <a:ext cx="142494" cy="142494"/>
            <a:chOff x="0" y="0"/>
            <a:chExt cx="189992" cy="189992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89992" cy="189992"/>
            </a:xfrm>
            <a:custGeom>
              <a:avLst/>
              <a:gdLst/>
              <a:ahLst/>
              <a:cxnLst/>
              <a:rect l="l" t="t" r="r" b="b"/>
              <a:pathLst>
                <a:path w="189992" h="189992">
                  <a:moveTo>
                    <a:pt x="0" y="94996"/>
                  </a:moveTo>
                  <a:cubicBezTo>
                    <a:pt x="0" y="42545"/>
                    <a:pt x="42545" y="0"/>
                    <a:pt x="94996" y="0"/>
                  </a:cubicBezTo>
                  <a:cubicBezTo>
                    <a:pt x="147447" y="0"/>
                    <a:pt x="189992" y="42545"/>
                    <a:pt x="189992" y="94996"/>
                  </a:cubicBezTo>
                  <a:cubicBezTo>
                    <a:pt x="189992" y="147447"/>
                    <a:pt x="147447" y="189992"/>
                    <a:pt x="94996" y="189992"/>
                  </a:cubicBezTo>
                  <a:cubicBezTo>
                    <a:pt x="42545" y="189992"/>
                    <a:pt x="0" y="147447"/>
                    <a:pt x="0" y="94996"/>
                  </a:cubicBezTo>
                  <a:close/>
                </a:path>
              </a:pathLst>
            </a:custGeom>
            <a:solidFill>
              <a:srgbClr val="5A0B3A"/>
            </a:solidFill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2249424" y="7434072"/>
            <a:ext cx="6268212" cy="411480"/>
            <a:chOff x="0" y="0"/>
            <a:chExt cx="8357616" cy="54864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357616" cy="548640"/>
            </a:xfrm>
            <a:custGeom>
              <a:avLst/>
              <a:gdLst/>
              <a:ahLst/>
              <a:cxnLst/>
              <a:rect l="l" t="t" r="r" b="b"/>
              <a:pathLst>
                <a:path w="8357616" h="548640">
                  <a:moveTo>
                    <a:pt x="0" y="0"/>
                  </a:moveTo>
                  <a:lnTo>
                    <a:pt x="8357616" y="0"/>
                  </a:lnTo>
                  <a:lnTo>
                    <a:pt x="8357616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46822" b="-246822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0"/>
              <a:ext cx="8357616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72"/>
                </a:lnSpc>
              </a:pPr>
              <a:r>
                <a:rPr lang="en-US" sz="2310">
                  <a:solidFill>
                    <a:srgbClr val="32102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Improve it systematically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794129" y="8281797"/>
            <a:ext cx="142494" cy="142494"/>
            <a:chOff x="0" y="0"/>
            <a:chExt cx="189992" cy="189992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89992" cy="189992"/>
            </a:xfrm>
            <a:custGeom>
              <a:avLst/>
              <a:gdLst/>
              <a:ahLst/>
              <a:cxnLst/>
              <a:rect l="l" t="t" r="r" b="b"/>
              <a:pathLst>
                <a:path w="189992" h="189992">
                  <a:moveTo>
                    <a:pt x="0" y="94996"/>
                  </a:moveTo>
                  <a:cubicBezTo>
                    <a:pt x="0" y="42545"/>
                    <a:pt x="42545" y="0"/>
                    <a:pt x="94996" y="0"/>
                  </a:cubicBezTo>
                  <a:cubicBezTo>
                    <a:pt x="147447" y="0"/>
                    <a:pt x="189992" y="42545"/>
                    <a:pt x="189992" y="94996"/>
                  </a:cubicBezTo>
                  <a:cubicBezTo>
                    <a:pt x="189992" y="147447"/>
                    <a:pt x="147447" y="189992"/>
                    <a:pt x="94996" y="189992"/>
                  </a:cubicBezTo>
                  <a:cubicBezTo>
                    <a:pt x="42545" y="189992"/>
                    <a:pt x="0" y="147447"/>
                    <a:pt x="0" y="94996"/>
                  </a:cubicBezTo>
                  <a:close/>
                </a:path>
              </a:pathLst>
            </a:custGeom>
            <a:solidFill>
              <a:srgbClr val="5A0B3A">
                <a:alpha val="84314"/>
              </a:srgbClr>
            </a:solidFill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2249424" y="8124725"/>
            <a:ext cx="6268212" cy="456638"/>
            <a:chOff x="0" y="0"/>
            <a:chExt cx="8357616" cy="608851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357616" cy="608851"/>
            </a:xfrm>
            <a:custGeom>
              <a:avLst/>
              <a:gdLst/>
              <a:ahLst/>
              <a:cxnLst/>
              <a:rect l="l" t="t" r="r" b="b"/>
              <a:pathLst>
                <a:path w="8357616" h="608851">
                  <a:moveTo>
                    <a:pt x="0" y="0"/>
                  </a:moveTo>
                  <a:lnTo>
                    <a:pt x="8357616" y="0"/>
                  </a:lnTo>
                  <a:lnTo>
                    <a:pt x="8357616" y="608851"/>
                  </a:lnTo>
                  <a:lnTo>
                    <a:pt x="0" y="60885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22413" b="-212523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0"/>
              <a:ext cx="8357616" cy="6088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72"/>
                </a:lnSpc>
              </a:pPr>
              <a:r>
                <a:rPr lang="en-US" sz="2310">
                  <a:solidFill>
                    <a:srgbClr val="32102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Generate </a:t>
              </a:r>
              <a:r>
                <a:rPr lang="en-US" sz="2310" b="1">
                  <a:solidFill>
                    <a:srgbClr val="32102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1,000 final images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0003155" y="2404491"/>
            <a:ext cx="6602730" cy="814578"/>
            <a:chOff x="0" y="0"/>
            <a:chExt cx="8803640" cy="1086104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8803640" cy="1086104"/>
            </a:xfrm>
            <a:custGeom>
              <a:avLst/>
              <a:gdLst/>
              <a:ahLst/>
              <a:cxnLst/>
              <a:rect l="l" t="t" r="r" b="b"/>
              <a:pathLst>
                <a:path w="8803640" h="1086104">
                  <a:moveTo>
                    <a:pt x="0" y="224663"/>
                  </a:moveTo>
                  <a:cubicBezTo>
                    <a:pt x="0" y="100584"/>
                    <a:pt x="100584" y="0"/>
                    <a:pt x="224663" y="0"/>
                  </a:cubicBezTo>
                  <a:lnTo>
                    <a:pt x="8578977" y="0"/>
                  </a:lnTo>
                  <a:cubicBezTo>
                    <a:pt x="8703056" y="0"/>
                    <a:pt x="8803640" y="100584"/>
                    <a:pt x="8803640" y="224663"/>
                  </a:cubicBezTo>
                  <a:lnTo>
                    <a:pt x="8803640" y="861441"/>
                  </a:lnTo>
                  <a:cubicBezTo>
                    <a:pt x="8803640" y="985520"/>
                    <a:pt x="8703056" y="1086104"/>
                    <a:pt x="8578977" y="1086104"/>
                  </a:cubicBezTo>
                  <a:lnTo>
                    <a:pt x="224663" y="1086104"/>
                  </a:lnTo>
                  <a:cubicBezTo>
                    <a:pt x="100584" y="1086104"/>
                    <a:pt x="0" y="985520"/>
                    <a:pt x="0" y="861441"/>
                  </a:cubicBezTo>
                  <a:close/>
                </a:path>
              </a:pathLst>
            </a:custGeom>
            <a:solidFill>
              <a:srgbClr val="5A0B3A"/>
            </a:solidFill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0218420" y="2578608"/>
            <a:ext cx="6172200" cy="452628"/>
            <a:chOff x="0" y="0"/>
            <a:chExt cx="8229600" cy="603504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229600" cy="603504"/>
            </a:xfrm>
            <a:custGeom>
              <a:avLst/>
              <a:gdLst/>
              <a:ahLst/>
              <a:cxnLst/>
              <a:rect l="l" t="t" r="r" b="b"/>
              <a:pathLst>
                <a:path w="8229600" h="603504">
                  <a:moveTo>
                    <a:pt x="0" y="0"/>
                  </a:moveTo>
                  <a:lnTo>
                    <a:pt x="8229600" y="0"/>
                  </a:lnTo>
                  <a:lnTo>
                    <a:pt x="8229600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15705" b="-215705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0"/>
              <a:ext cx="8229600" cy="6035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Part B - Reinforcement Learning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9358027" y="3391567"/>
            <a:ext cx="8139096" cy="5753291"/>
            <a:chOff x="0" y="0"/>
            <a:chExt cx="10852128" cy="7671054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0852129" cy="7671054"/>
            </a:xfrm>
            <a:custGeom>
              <a:avLst/>
              <a:gdLst/>
              <a:ahLst/>
              <a:cxnLst/>
              <a:rect l="l" t="t" r="r" b="b"/>
              <a:pathLst>
                <a:path w="10852129" h="7671054">
                  <a:moveTo>
                    <a:pt x="0" y="367030"/>
                  </a:moveTo>
                  <a:cubicBezTo>
                    <a:pt x="0" y="164338"/>
                    <a:pt x="169168" y="0"/>
                    <a:pt x="377818" y="0"/>
                  </a:cubicBezTo>
                  <a:lnTo>
                    <a:pt x="10474311" y="0"/>
                  </a:lnTo>
                  <a:cubicBezTo>
                    <a:pt x="10682960" y="0"/>
                    <a:pt x="10852129" y="164338"/>
                    <a:pt x="10852129" y="367030"/>
                  </a:cubicBezTo>
                  <a:lnTo>
                    <a:pt x="10852129" y="7304024"/>
                  </a:lnTo>
                  <a:cubicBezTo>
                    <a:pt x="10852129" y="7506716"/>
                    <a:pt x="10682960" y="7671054"/>
                    <a:pt x="10474311" y="7671054"/>
                  </a:cubicBezTo>
                  <a:lnTo>
                    <a:pt x="377818" y="7671054"/>
                  </a:lnTo>
                  <a:cubicBezTo>
                    <a:pt x="169168" y="7671054"/>
                    <a:pt x="0" y="7506716"/>
                    <a:pt x="0" y="7304024"/>
                  </a:cubicBezTo>
                  <a:close/>
                </a:path>
              </a:pathLst>
            </a:custGeom>
            <a:solidFill>
              <a:srgbClr val="FDEBF2"/>
            </a:solidFill>
            <a:ln w="20003" cap="sq">
              <a:solidFill>
                <a:srgbClr val="F0A7C0"/>
              </a:solidFill>
              <a:prstDash val="solid"/>
              <a:miter/>
            </a:ln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9957816" y="4050411"/>
            <a:ext cx="6707124" cy="997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32102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Goal: Train an agent to control</a:t>
            </a:r>
          </a:p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32102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Pendulum-v1 using Deep Q-Learning.</a:t>
            </a:r>
          </a:p>
        </p:txBody>
      </p:sp>
      <p:sp>
        <p:nvSpPr>
          <p:cNvPr id="50" name="AutoShape 50"/>
          <p:cNvSpPr/>
          <p:nvPr/>
        </p:nvSpPr>
        <p:spPr>
          <a:xfrm rot="23340">
            <a:off x="10236298" y="5385625"/>
            <a:ext cx="2803465" cy="0"/>
          </a:xfrm>
          <a:prstGeom prst="line">
            <a:avLst/>
          </a:prstGeom>
          <a:ln w="9525" cap="rnd">
            <a:solidFill>
              <a:srgbClr val="E9A8BD">
                <a:alpha val="7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SG"/>
          </a:p>
        </p:txBody>
      </p:sp>
      <p:grpSp>
        <p:nvGrpSpPr>
          <p:cNvPr id="51" name="Group 51"/>
          <p:cNvGrpSpPr/>
          <p:nvPr/>
        </p:nvGrpSpPr>
        <p:grpSpPr>
          <a:xfrm>
            <a:off x="13205841" y="5305425"/>
            <a:ext cx="169926" cy="169926"/>
            <a:chOff x="0" y="0"/>
            <a:chExt cx="226568" cy="226568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226568" cy="226568"/>
            </a:xfrm>
            <a:custGeom>
              <a:avLst/>
              <a:gdLst/>
              <a:ahLst/>
              <a:cxnLst/>
              <a:rect l="l" t="t" r="r" b="b"/>
              <a:pathLst>
                <a:path w="226568" h="226568">
                  <a:moveTo>
                    <a:pt x="0" y="113284"/>
                  </a:moveTo>
                  <a:cubicBezTo>
                    <a:pt x="0" y="50673"/>
                    <a:pt x="50673" y="0"/>
                    <a:pt x="113284" y="0"/>
                  </a:cubicBezTo>
                  <a:cubicBezTo>
                    <a:pt x="175895" y="0"/>
                    <a:pt x="226568" y="50673"/>
                    <a:pt x="226568" y="113284"/>
                  </a:cubicBezTo>
                  <a:cubicBezTo>
                    <a:pt x="226568" y="175895"/>
                    <a:pt x="175895" y="226568"/>
                    <a:pt x="113284" y="226568"/>
                  </a:cubicBezTo>
                  <a:cubicBezTo>
                    <a:pt x="50673" y="226568"/>
                    <a:pt x="0" y="175895"/>
                    <a:pt x="0" y="113284"/>
                  </a:cubicBezTo>
                  <a:close/>
                </a:path>
              </a:pathLst>
            </a:custGeom>
            <a:solidFill>
              <a:srgbClr val="E9A8BD">
                <a:alpha val="90196"/>
              </a:srgbClr>
            </a:solidFill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53" name="AutoShape 53"/>
          <p:cNvSpPr/>
          <p:nvPr/>
        </p:nvSpPr>
        <p:spPr>
          <a:xfrm rot="23460">
            <a:off x="13541854" y="5385625"/>
            <a:ext cx="2789749" cy="0"/>
          </a:xfrm>
          <a:prstGeom prst="line">
            <a:avLst/>
          </a:prstGeom>
          <a:ln w="9525" cap="rnd">
            <a:solidFill>
              <a:srgbClr val="E9A8BD">
                <a:alpha val="7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SG"/>
          </a:p>
        </p:txBody>
      </p:sp>
      <p:grpSp>
        <p:nvGrpSpPr>
          <p:cNvPr id="54" name="Group 54"/>
          <p:cNvGrpSpPr/>
          <p:nvPr/>
        </p:nvGrpSpPr>
        <p:grpSpPr>
          <a:xfrm>
            <a:off x="10092309" y="6142101"/>
            <a:ext cx="142494" cy="142494"/>
            <a:chOff x="0" y="0"/>
            <a:chExt cx="189992" cy="189992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89992" cy="189992"/>
            </a:xfrm>
            <a:custGeom>
              <a:avLst/>
              <a:gdLst/>
              <a:ahLst/>
              <a:cxnLst/>
              <a:rect l="l" t="t" r="r" b="b"/>
              <a:pathLst>
                <a:path w="189992" h="189992">
                  <a:moveTo>
                    <a:pt x="0" y="94996"/>
                  </a:moveTo>
                  <a:cubicBezTo>
                    <a:pt x="0" y="42545"/>
                    <a:pt x="42545" y="0"/>
                    <a:pt x="94996" y="0"/>
                  </a:cubicBezTo>
                  <a:cubicBezTo>
                    <a:pt x="147447" y="0"/>
                    <a:pt x="189992" y="42545"/>
                    <a:pt x="189992" y="94996"/>
                  </a:cubicBezTo>
                  <a:cubicBezTo>
                    <a:pt x="189992" y="147447"/>
                    <a:pt x="147447" y="189992"/>
                    <a:pt x="94996" y="189992"/>
                  </a:cubicBezTo>
                  <a:cubicBezTo>
                    <a:pt x="42545" y="189992"/>
                    <a:pt x="0" y="147447"/>
                    <a:pt x="0" y="94996"/>
                  </a:cubicBezTo>
                  <a:close/>
                </a:path>
              </a:pathLst>
            </a:custGeom>
            <a:solidFill>
              <a:srgbClr val="5A0B3A"/>
            </a:solidFill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0547604" y="6007608"/>
            <a:ext cx="6268212" cy="456638"/>
            <a:chOff x="0" y="0"/>
            <a:chExt cx="8357616" cy="608851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8357616" cy="608851"/>
            </a:xfrm>
            <a:custGeom>
              <a:avLst/>
              <a:gdLst/>
              <a:ahLst/>
              <a:cxnLst/>
              <a:rect l="l" t="t" r="r" b="b"/>
              <a:pathLst>
                <a:path w="8357616" h="608851">
                  <a:moveTo>
                    <a:pt x="0" y="0"/>
                  </a:moveTo>
                  <a:lnTo>
                    <a:pt x="8357616" y="0"/>
                  </a:lnTo>
                  <a:lnTo>
                    <a:pt x="8357616" y="608851"/>
                  </a:lnTo>
                  <a:lnTo>
                    <a:pt x="0" y="60885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22413" b="-212523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0" y="0"/>
              <a:ext cx="8357616" cy="6088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72"/>
                </a:lnSpc>
              </a:pPr>
              <a:r>
                <a:rPr lang="en-US" sz="2310">
                  <a:solidFill>
                    <a:srgbClr val="32102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Apply DQN to Pendulum environment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0092309" y="6855333"/>
            <a:ext cx="142494" cy="142494"/>
            <a:chOff x="0" y="0"/>
            <a:chExt cx="189992" cy="189992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189992" cy="189992"/>
            </a:xfrm>
            <a:custGeom>
              <a:avLst/>
              <a:gdLst/>
              <a:ahLst/>
              <a:cxnLst/>
              <a:rect l="l" t="t" r="r" b="b"/>
              <a:pathLst>
                <a:path w="189992" h="189992">
                  <a:moveTo>
                    <a:pt x="0" y="94996"/>
                  </a:moveTo>
                  <a:cubicBezTo>
                    <a:pt x="0" y="42545"/>
                    <a:pt x="42545" y="0"/>
                    <a:pt x="94996" y="0"/>
                  </a:cubicBezTo>
                  <a:cubicBezTo>
                    <a:pt x="147447" y="0"/>
                    <a:pt x="189992" y="42545"/>
                    <a:pt x="189992" y="94996"/>
                  </a:cubicBezTo>
                  <a:cubicBezTo>
                    <a:pt x="189992" y="147447"/>
                    <a:pt x="147447" y="189992"/>
                    <a:pt x="94996" y="189992"/>
                  </a:cubicBezTo>
                  <a:cubicBezTo>
                    <a:pt x="42545" y="189992"/>
                    <a:pt x="0" y="147447"/>
                    <a:pt x="0" y="94996"/>
                  </a:cubicBezTo>
                  <a:close/>
                </a:path>
              </a:pathLst>
            </a:custGeom>
            <a:solidFill>
              <a:srgbClr val="5A0B3A"/>
            </a:solidFill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10547604" y="6698478"/>
            <a:ext cx="6949519" cy="456205"/>
            <a:chOff x="0" y="0"/>
            <a:chExt cx="8357616" cy="54864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8357616" cy="548640"/>
            </a:xfrm>
            <a:custGeom>
              <a:avLst/>
              <a:gdLst/>
              <a:ahLst/>
              <a:cxnLst/>
              <a:rect l="l" t="t" r="r" b="b"/>
              <a:pathLst>
                <a:path w="8357616" h="548640">
                  <a:moveTo>
                    <a:pt x="0" y="0"/>
                  </a:moveTo>
                  <a:lnTo>
                    <a:pt x="8357616" y="0"/>
                  </a:lnTo>
                  <a:lnTo>
                    <a:pt x="8357616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46822" b="-246822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0" y="0"/>
              <a:ext cx="8357616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72"/>
                </a:lnSpc>
              </a:pPr>
              <a:r>
                <a:rPr lang="en-US" sz="2310">
                  <a:solidFill>
                    <a:srgbClr val="32102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Convert continuous torque into discrete actions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0092309" y="7568565"/>
            <a:ext cx="142494" cy="142494"/>
            <a:chOff x="0" y="0"/>
            <a:chExt cx="189992" cy="189992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189992" cy="189992"/>
            </a:xfrm>
            <a:custGeom>
              <a:avLst/>
              <a:gdLst/>
              <a:ahLst/>
              <a:cxnLst/>
              <a:rect l="l" t="t" r="r" b="b"/>
              <a:pathLst>
                <a:path w="189992" h="189992">
                  <a:moveTo>
                    <a:pt x="0" y="94996"/>
                  </a:moveTo>
                  <a:cubicBezTo>
                    <a:pt x="0" y="42545"/>
                    <a:pt x="42545" y="0"/>
                    <a:pt x="94996" y="0"/>
                  </a:cubicBezTo>
                  <a:cubicBezTo>
                    <a:pt x="147447" y="0"/>
                    <a:pt x="189992" y="42545"/>
                    <a:pt x="189992" y="94996"/>
                  </a:cubicBezTo>
                  <a:cubicBezTo>
                    <a:pt x="189992" y="147447"/>
                    <a:pt x="147447" y="189992"/>
                    <a:pt x="94996" y="189992"/>
                  </a:cubicBezTo>
                  <a:cubicBezTo>
                    <a:pt x="42545" y="189992"/>
                    <a:pt x="0" y="147447"/>
                    <a:pt x="0" y="94996"/>
                  </a:cubicBezTo>
                  <a:close/>
                </a:path>
              </a:pathLst>
            </a:custGeom>
            <a:solidFill>
              <a:srgbClr val="5A0B3A"/>
            </a:solidFill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10547604" y="7411031"/>
            <a:ext cx="6268212" cy="411480"/>
            <a:chOff x="0" y="0"/>
            <a:chExt cx="8357616" cy="54864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8357616" cy="548640"/>
            </a:xfrm>
            <a:custGeom>
              <a:avLst/>
              <a:gdLst/>
              <a:ahLst/>
              <a:cxnLst/>
              <a:rect l="l" t="t" r="r" b="b"/>
              <a:pathLst>
                <a:path w="8357616" h="548640">
                  <a:moveTo>
                    <a:pt x="0" y="0"/>
                  </a:moveTo>
                  <a:lnTo>
                    <a:pt x="8357616" y="0"/>
                  </a:lnTo>
                  <a:lnTo>
                    <a:pt x="8357616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46822" b="-246822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0" y="0"/>
              <a:ext cx="8357616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72"/>
                </a:lnSpc>
              </a:pPr>
              <a:r>
                <a:rPr lang="en-US" sz="2310">
                  <a:solidFill>
                    <a:srgbClr val="32102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Compare different gravity settings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10092309" y="8281797"/>
            <a:ext cx="142494" cy="142494"/>
            <a:chOff x="0" y="0"/>
            <a:chExt cx="189992" cy="189992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189992" cy="189992"/>
            </a:xfrm>
            <a:custGeom>
              <a:avLst/>
              <a:gdLst/>
              <a:ahLst/>
              <a:cxnLst/>
              <a:rect l="l" t="t" r="r" b="b"/>
              <a:pathLst>
                <a:path w="189992" h="189992">
                  <a:moveTo>
                    <a:pt x="0" y="94996"/>
                  </a:moveTo>
                  <a:cubicBezTo>
                    <a:pt x="0" y="42545"/>
                    <a:pt x="42545" y="0"/>
                    <a:pt x="94996" y="0"/>
                  </a:cubicBezTo>
                  <a:cubicBezTo>
                    <a:pt x="147447" y="0"/>
                    <a:pt x="189992" y="42545"/>
                    <a:pt x="189992" y="94996"/>
                  </a:cubicBezTo>
                  <a:cubicBezTo>
                    <a:pt x="189992" y="147447"/>
                    <a:pt x="147447" y="189992"/>
                    <a:pt x="94996" y="189992"/>
                  </a:cubicBezTo>
                  <a:cubicBezTo>
                    <a:pt x="42545" y="189992"/>
                    <a:pt x="0" y="147447"/>
                    <a:pt x="0" y="94996"/>
                  </a:cubicBezTo>
                  <a:close/>
                </a:path>
              </a:pathLst>
            </a:custGeom>
            <a:solidFill>
              <a:srgbClr val="5A0B3A">
                <a:alpha val="84314"/>
              </a:srgbClr>
            </a:solidFill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10547604" y="8124725"/>
            <a:ext cx="6268212" cy="456638"/>
            <a:chOff x="0" y="0"/>
            <a:chExt cx="8357616" cy="608851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8357616" cy="608851"/>
            </a:xfrm>
            <a:custGeom>
              <a:avLst/>
              <a:gdLst/>
              <a:ahLst/>
              <a:cxnLst/>
              <a:rect l="l" t="t" r="r" b="b"/>
              <a:pathLst>
                <a:path w="8357616" h="608851">
                  <a:moveTo>
                    <a:pt x="0" y="0"/>
                  </a:moveTo>
                  <a:lnTo>
                    <a:pt x="8357616" y="0"/>
                  </a:lnTo>
                  <a:lnTo>
                    <a:pt x="8357616" y="608851"/>
                  </a:lnTo>
                  <a:lnTo>
                    <a:pt x="0" y="60885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22413" b="-212523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0" y="0"/>
              <a:ext cx="8357616" cy="6088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72"/>
                </a:lnSpc>
              </a:pPr>
              <a:r>
                <a:rPr lang="en-US" sz="2310">
                  <a:solidFill>
                    <a:srgbClr val="32102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Systematically tune and evaluate the DQN</a:t>
              </a:r>
            </a:p>
          </p:txBody>
        </p:sp>
      </p:grpSp>
      <p:sp>
        <p:nvSpPr>
          <p:cNvPr id="74" name="AutoShape 74"/>
          <p:cNvSpPr/>
          <p:nvPr/>
        </p:nvSpPr>
        <p:spPr>
          <a:xfrm rot="5392800">
            <a:off x="5513060" y="5783390"/>
            <a:ext cx="7257307" cy="0"/>
          </a:xfrm>
          <a:prstGeom prst="line">
            <a:avLst/>
          </a:prstGeom>
          <a:ln w="9525" cap="rnd">
            <a:solidFill>
              <a:srgbClr val="F0B5CA">
                <a:alpha val="61961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SG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37363" y="237363"/>
            <a:ext cx="17808702" cy="9784842"/>
            <a:chOff x="0" y="0"/>
            <a:chExt cx="23744936" cy="130464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744937" cy="13046456"/>
            </a:xfrm>
            <a:custGeom>
              <a:avLst/>
              <a:gdLst/>
              <a:ahLst/>
              <a:cxnLst/>
              <a:rect l="l" t="t" r="r" b="b"/>
              <a:pathLst>
                <a:path w="23744937" h="13046456">
                  <a:moveTo>
                    <a:pt x="0" y="0"/>
                  </a:moveTo>
                  <a:lnTo>
                    <a:pt x="23744937" y="0"/>
                  </a:lnTo>
                  <a:lnTo>
                    <a:pt x="23744937" y="13046456"/>
                  </a:lnTo>
                  <a:lnTo>
                    <a:pt x="0" y="130464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495" r="-20495"/>
              </a:stretch>
            </a:blipFill>
            <a:ln w="19050" cap="sq">
              <a:solidFill>
                <a:srgbClr val="E9CDD7"/>
              </a:solidFill>
              <a:prstDash val="solid"/>
              <a:miter/>
            </a:ln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54380" y="466344"/>
            <a:ext cx="16733520" cy="782575"/>
            <a:chOff x="0" y="0"/>
            <a:chExt cx="22311360" cy="104343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311361" cy="1043434"/>
            </a:xfrm>
            <a:custGeom>
              <a:avLst/>
              <a:gdLst/>
              <a:ahLst/>
              <a:cxnLst/>
              <a:rect l="l" t="t" r="r" b="b"/>
              <a:pathLst>
                <a:path w="22311361" h="1043434">
                  <a:moveTo>
                    <a:pt x="0" y="0"/>
                  </a:moveTo>
                  <a:lnTo>
                    <a:pt x="22311361" y="0"/>
                  </a:lnTo>
                  <a:lnTo>
                    <a:pt x="22311361" y="1043434"/>
                  </a:lnTo>
                  <a:lnTo>
                    <a:pt x="0" y="104343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68442" b="-364839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22311360" cy="104343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680"/>
                </a:lnSpc>
              </a:pPr>
              <a:r>
                <a:rPr lang="en-US" sz="3900" b="1">
                  <a:solidFill>
                    <a:srgbClr val="4B173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Part A — PROBLEM &amp; DATASET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46462" y="1524286"/>
            <a:ext cx="8459152" cy="7224712"/>
            <a:chOff x="0" y="0"/>
            <a:chExt cx="11278870" cy="96329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278870" cy="9632950"/>
            </a:xfrm>
            <a:custGeom>
              <a:avLst/>
              <a:gdLst/>
              <a:ahLst/>
              <a:cxnLst/>
              <a:rect l="l" t="t" r="r" b="b"/>
              <a:pathLst>
                <a:path w="11278870" h="9632950">
                  <a:moveTo>
                    <a:pt x="0" y="91694"/>
                  </a:moveTo>
                  <a:cubicBezTo>
                    <a:pt x="0" y="41021"/>
                    <a:pt x="41021" y="0"/>
                    <a:pt x="91694" y="0"/>
                  </a:cubicBezTo>
                  <a:lnTo>
                    <a:pt x="11187176" y="0"/>
                  </a:lnTo>
                  <a:cubicBezTo>
                    <a:pt x="11237849" y="0"/>
                    <a:pt x="11278870" y="41021"/>
                    <a:pt x="11278870" y="91694"/>
                  </a:cubicBezTo>
                  <a:lnTo>
                    <a:pt x="11278870" y="9541256"/>
                  </a:lnTo>
                  <a:cubicBezTo>
                    <a:pt x="11278870" y="9591929"/>
                    <a:pt x="11237849" y="9632950"/>
                    <a:pt x="11187176" y="9632950"/>
                  </a:cubicBezTo>
                  <a:lnTo>
                    <a:pt x="91694" y="9632950"/>
                  </a:lnTo>
                  <a:cubicBezTo>
                    <a:pt x="41021" y="9632950"/>
                    <a:pt x="0" y="9591929"/>
                    <a:pt x="0" y="9541256"/>
                  </a:cubicBez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E0BCC8"/>
              </a:solidFill>
              <a:prstDash val="solid"/>
              <a:miter/>
            </a:ln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69848" y="1824228"/>
            <a:ext cx="7612380" cy="506555"/>
            <a:chOff x="0" y="0"/>
            <a:chExt cx="10149840" cy="67540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149840" cy="675407"/>
            </a:xfrm>
            <a:custGeom>
              <a:avLst/>
              <a:gdLst/>
              <a:ahLst/>
              <a:cxnLst/>
              <a:rect l="l" t="t" r="r" b="b"/>
              <a:pathLst>
                <a:path w="10149840" h="675407">
                  <a:moveTo>
                    <a:pt x="0" y="0"/>
                  </a:moveTo>
                  <a:lnTo>
                    <a:pt x="10149840" y="0"/>
                  </a:lnTo>
                  <a:lnTo>
                    <a:pt x="10149840" y="675407"/>
                  </a:lnTo>
                  <a:lnTo>
                    <a:pt x="0" y="67540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49492" b="-236139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0"/>
              <a:ext cx="10149840" cy="67540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60"/>
                </a:lnSpc>
              </a:pPr>
              <a:r>
                <a:rPr lang="en-US" sz="2550" b="1">
                  <a:solidFill>
                    <a:srgbClr val="3F3438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One Training Image from Each CIFAR-10 Class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05256" y="2658237"/>
            <a:ext cx="1426464" cy="342900"/>
            <a:chOff x="0" y="0"/>
            <a:chExt cx="1901952" cy="4572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901952" cy="457200"/>
            </a:xfrm>
            <a:custGeom>
              <a:avLst/>
              <a:gdLst/>
              <a:ahLst/>
              <a:cxnLst/>
              <a:rect l="l" t="t" r="r" b="b"/>
              <a:pathLst>
                <a:path w="1901952" h="457200">
                  <a:moveTo>
                    <a:pt x="0" y="0"/>
                  </a:moveTo>
                  <a:lnTo>
                    <a:pt x="1901952" y="0"/>
                  </a:lnTo>
                  <a:lnTo>
                    <a:pt x="1901952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1057" b="-31057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9525"/>
              <a:ext cx="1901952" cy="4476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725">
                  <a:solidFill>
                    <a:srgbClr val="3F3438"/>
                  </a:solidFill>
                  <a:latin typeface="Canva Sans"/>
                  <a:ea typeface="Canva Sans"/>
                  <a:cs typeface="Canva Sans"/>
                  <a:sym typeface="Canva Sans"/>
                </a:rPr>
                <a:t>0: airplane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87552" y="3205353"/>
            <a:ext cx="1344168" cy="1344168"/>
            <a:chOff x="0" y="0"/>
            <a:chExt cx="1792224" cy="1792224"/>
          </a:xfrm>
        </p:grpSpPr>
        <p:sp>
          <p:nvSpPr>
            <p:cNvPr id="16" name="Freeform 16" descr="/mnt/data/slide2_assets/class_0.png"/>
            <p:cNvSpPr/>
            <p:nvPr/>
          </p:nvSpPr>
          <p:spPr>
            <a:xfrm>
              <a:off x="0" y="0"/>
              <a:ext cx="1792224" cy="1792224"/>
            </a:xfrm>
            <a:custGeom>
              <a:avLst/>
              <a:gdLst/>
              <a:ahLst/>
              <a:cxnLst/>
              <a:rect l="l" t="t" r="r" b="b"/>
              <a:pathLst>
                <a:path w="1792224" h="1792224">
                  <a:moveTo>
                    <a:pt x="0" y="0"/>
                  </a:moveTo>
                  <a:lnTo>
                    <a:pt x="1792224" y="0"/>
                  </a:lnTo>
                  <a:lnTo>
                    <a:pt x="1792224" y="1792224"/>
                  </a:lnTo>
                  <a:lnTo>
                    <a:pt x="0" y="17922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04" b="-204"/>
              </a:stretch>
            </a:blipFill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510028" y="2658237"/>
            <a:ext cx="1495044" cy="342900"/>
            <a:chOff x="0" y="0"/>
            <a:chExt cx="1993392" cy="4572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993392" cy="457200"/>
            </a:xfrm>
            <a:custGeom>
              <a:avLst/>
              <a:gdLst/>
              <a:ahLst/>
              <a:cxnLst/>
              <a:rect l="l" t="t" r="r" b="b"/>
              <a:pathLst>
                <a:path w="1993392" h="457200">
                  <a:moveTo>
                    <a:pt x="0" y="0"/>
                  </a:moveTo>
                  <a:lnTo>
                    <a:pt x="1993392" y="0"/>
                  </a:lnTo>
                  <a:lnTo>
                    <a:pt x="1993392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1057" r="4587" b="-31057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9525"/>
              <a:ext cx="1993392" cy="4476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725">
                  <a:solidFill>
                    <a:srgbClr val="3F3438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1: automobile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551176" y="3195828"/>
            <a:ext cx="1344168" cy="1344168"/>
            <a:chOff x="0" y="0"/>
            <a:chExt cx="1792224" cy="1792224"/>
          </a:xfrm>
        </p:grpSpPr>
        <p:sp>
          <p:nvSpPr>
            <p:cNvPr id="21" name="Freeform 21" descr="/mnt/data/slide2_assets/class_1.png"/>
            <p:cNvSpPr/>
            <p:nvPr/>
          </p:nvSpPr>
          <p:spPr>
            <a:xfrm>
              <a:off x="0" y="0"/>
              <a:ext cx="1792224" cy="1792224"/>
            </a:xfrm>
            <a:custGeom>
              <a:avLst/>
              <a:gdLst/>
              <a:ahLst/>
              <a:cxnLst/>
              <a:rect l="l" t="t" r="r" b="b"/>
              <a:pathLst>
                <a:path w="1792224" h="1792224">
                  <a:moveTo>
                    <a:pt x="0" y="0"/>
                  </a:moveTo>
                  <a:lnTo>
                    <a:pt x="1792224" y="0"/>
                  </a:lnTo>
                  <a:lnTo>
                    <a:pt x="1792224" y="1792224"/>
                  </a:lnTo>
                  <a:lnTo>
                    <a:pt x="0" y="17922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04" b="-204"/>
              </a:stretch>
            </a:blipFill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073652" y="2658237"/>
            <a:ext cx="1426464" cy="342900"/>
            <a:chOff x="0" y="0"/>
            <a:chExt cx="1901952" cy="4572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901952" cy="457200"/>
            </a:xfrm>
            <a:custGeom>
              <a:avLst/>
              <a:gdLst/>
              <a:ahLst/>
              <a:cxnLst/>
              <a:rect l="l" t="t" r="r" b="b"/>
              <a:pathLst>
                <a:path w="1901952" h="457200">
                  <a:moveTo>
                    <a:pt x="0" y="0"/>
                  </a:moveTo>
                  <a:lnTo>
                    <a:pt x="1901952" y="0"/>
                  </a:lnTo>
                  <a:lnTo>
                    <a:pt x="1901952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1057" b="-31057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9525"/>
              <a:ext cx="1901952" cy="4476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725">
                  <a:solidFill>
                    <a:srgbClr val="3F3438"/>
                  </a:solidFill>
                  <a:latin typeface="Canva Sans"/>
                  <a:ea typeface="Canva Sans"/>
                  <a:cs typeface="Canva Sans"/>
                  <a:sym typeface="Canva Sans"/>
                </a:rPr>
                <a:t>2: bird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155948" y="3147822"/>
            <a:ext cx="1344168" cy="1344168"/>
            <a:chOff x="0" y="0"/>
            <a:chExt cx="1792224" cy="1792224"/>
          </a:xfrm>
        </p:grpSpPr>
        <p:sp>
          <p:nvSpPr>
            <p:cNvPr id="26" name="Freeform 26" descr="/mnt/data/slide2_assets/class_2.png"/>
            <p:cNvSpPr/>
            <p:nvPr/>
          </p:nvSpPr>
          <p:spPr>
            <a:xfrm>
              <a:off x="0" y="0"/>
              <a:ext cx="1792224" cy="1792224"/>
            </a:xfrm>
            <a:custGeom>
              <a:avLst/>
              <a:gdLst/>
              <a:ahLst/>
              <a:cxnLst/>
              <a:rect l="l" t="t" r="r" b="b"/>
              <a:pathLst>
                <a:path w="1792224" h="1792224">
                  <a:moveTo>
                    <a:pt x="0" y="0"/>
                  </a:moveTo>
                  <a:lnTo>
                    <a:pt x="1792224" y="0"/>
                  </a:lnTo>
                  <a:lnTo>
                    <a:pt x="1792224" y="1792224"/>
                  </a:lnTo>
                  <a:lnTo>
                    <a:pt x="0" y="17922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04" b="-204"/>
              </a:stretch>
            </a:blipFill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637276" y="2639568"/>
            <a:ext cx="1426464" cy="342900"/>
            <a:chOff x="0" y="0"/>
            <a:chExt cx="1901952" cy="4572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901952" cy="457200"/>
            </a:xfrm>
            <a:custGeom>
              <a:avLst/>
              <a:gdLst/>
              <a:ahLst/>
              <a:cxnLst/>
              <a:rect l="l" t="t" r="r" b="b"/>
              <a:pathLst>
                <a:path w="1901952" h="457200">
                  <a:moveTo>
                    <a:pt x="0" y="0"/>
                  </a:moveTo>
                  <a:lnTo>
                    <a:pt x="1901952" y="0"/>
                  </a:lnTo>
                  <a:lnTo>
                    <a:pt x="1901952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1057" b="-31057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9525"/>
              <a:ext cx="1901952" cy="4476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725">
                  <a:solidFill>
                    <a:srgbClr val="3F3438"/>
                  </a:solidFill>
                  <a:latin typeface="Canva Sans"/>
                  <a:ea typeface="Canva Sans"/>
                  <a:cs typeface="Canva Sans"/>
                  <a:sym typeface="Canva Sans"/>
                </a:rPr>
                <a:t>3: cat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698998" y="3147822"/>
            <a:ext cx="1344168" cy="1344168"/>
            <a:chOff x="0" y="0"/>
            <a:chExt cx="1792224" cy="1792224"/>
          </a:xfrm>
        </p:grpSpPr>
        <p:sp>
          <p:nvSpPr>
            <p:cNvPr id="31" name="Freeform 31" descr="/mnt/data/slide2_assets/class_3.png"/>
            <p:cNvSpPr/>
            <p:nvPr/>
          </p:nvSpPr>
          <p:spPr>
            <a:xfrm>
              <a:off x="0" y="0"/>
              <a:ext cx="1792224" cy="1792224"/>
            </a:xfrm>
            <a:custGeom>
              <a:avLst/>
              <a:gdLst/>
              <a:ahLst/>
              <a:cxnLst/>
              <a:rect l="l" t="t" r="r" b="b"/>
              <a:pathLst>
                <a:path w="1792224" h="1792224">
                  <a:moveTo>
                    <a:pt x="0" y="0"/>
                  </a:moveTo>
                  <a:lnTo>
                    <a:pt x="1792224" y="0"/>
                  </a:lnTo>
                  <a:lnTo>
                    <a:pt x="1792224" y="1792224"/>
                  </a:lnTo>
                  <a:lnTo>
                    <a:pt x="0" y="17922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204" b="-204"/>
              </a:stretch>
            </a:blipFill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221093" y="2639568"/>
            <a:ext cx="1426464" cy="342900"/>
            <a:chOff x="0" y="0"/>
            <a:chExt cx="1901952" cy="4572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901952" cy="457200"/>
            </a:xfrm>
            <a:custGeom>
              <a:avLst/>
              <a:gdLst/>
              <a:ahLst/>
              <a:cxnLst/>
              <a:rect l="l" t="t" r="r" b="b"/>
              <a:pathLst>
                <a:path w="1901952" h="457200">
                  <a:moveTo>
                    <a:pt x="0" y="0"/>
                  </a:moveTo>
                  <a:lnTo>
                    <a:pt x="1901952" y="0"/>
                  </a:lnTo>
                  <a:lnTo>
                    <a:pt x="1901952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1057" b="-31057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9525"/>
              <a:ext cx="1901952" cy="4476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725">
                  <a:solidFill>
                    <a:srgbClr val="3F3438"/>
                  </a:solidFill>
                  <a:latin typeface="Canva Sans"/>
                  <a:ea typeface="Canva Sans"/>
                  <a:cs typeface="Canva Sans"/>
                  <a:sym typeface="Canva Sans"/>
                </a:rPr>
                <a:t>4: deer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262241" y="3106293"/>
            <a:ext cx="1344168" cy="1344168"/>
            <a:chOff x="0" y="0"/>
            <a:chExt cx="1792224" cy="1792224"/>
          </a:xfrm>
        </p:grpSpPr>
        <p:sp>
          <p:nvSpPr>
            <p:cNvPr id="36" name="Freeform 36" descr="/mnt/data/slide2_assets/class_4.png"/>
            <p:cNvSpPr/>
            <p:nvPr/>
          </p:nvSpPr>
          <p:spPr>
            <a:xfrm>
              <a:off x="0" y="0"/>
              <a:ext cx="1792224" cy="1792224"/>
            </a:xfrm>
            <a:custGeom>
              <a:avLst/>
              <a:gdLst/>
              <a:ahLst/>
              <a:cxnLst/>
              <a:rect l="l" t="t" r="r" b="b"/>
              <a:pathLst>
                <a:path w="1792224" h="1792224">
                  <a:moveTo>
                    <a:pt x="0" y="0"/>
                  </a:moveTo>
                  <a:lnTo>
                    <a:pt x="1792224" y="0"/>
                  </a:lnTo>
                  <a:lnTo>
                    <a:pt x="1792224" y="1792224"/>
                  </a:lnTo>
                  <a:lnTo>
                    <a:pt x="0" y="17922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204" b="-204"/>
              </a:stretch>
            </a:blipFill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46404" y="5088636"/>
            <a:ext cx="1426464" cy="342900"/>
            <a:chOff x="0" y="0"/>
            <a:chExt cx="1901952" cy="4572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901952" cy="457200"/>
            </a:xfrm>
            <a:custGeom>
              <a:avLst/>
              <a:gdLst/>
              <a:ahLst/>
              <a:cxnLst/>
              <a:rect l="l" t="t" r="r" b="b"/>
              <a:pathLst>
                <a:path w="1901952" h="457200">
                  <a:moveTo>
                    <a:pt x="0" y="0"/>
                  </a:moveTo>
                  <a:lnTo>
                    <a:pt x="1901952" y="0"/>
                  </a:lnTo>
                  <a:lnTo>
                    <a:pt x="1901952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1057" b="-31057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9525"/>
              <a:ext cx="1901952" cy="4476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725">
                  <a:solidFill>
                    <a:srgbClr val="3F3438"/>
                  </a:solidFill>
                  <a:latin typeface="Canva Sans"/>
                  <a:ea typeface="Canva Sans"/>
                  <a:cs typeface="Canva Sans"/>
                  <a:sym typeface="Canva Sans"/>
                </a:rPr>
                <a:t>5: dog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87552" y="5554980"/>
            <a:ext cx="1344168" cy="1344168"/>
            <a:chOff x="0" y="0"/>
            <a:chExt cx="1792224" cy="1792224"/>
          </a:xfrm>
        </p:grpSpPr>
        <p:sp>
          <p:nvSpPr>
            <p:cNvPr id="41" name="Freeform 41" descr="/mnt/data/slide2_assets/class_5.png"/>
            <p:cNvSpPr/>
            <p:nvPr/>
          </p:nvSpPr>
          <p:spPr>
            <a:xfrm>
              <a:off x="0" y="0"/>
              <a:ext cx="1792224" cy="1792224"/>
            </a:xfrm>
            <a:custGeom>
              <a:avLst/>
              <a:gdLst/>
              <a:ahLst/>
              <a:cxnLst/>
              <a:rect l="l" t="t" r="r" b="b"/>
              <a:pathLst>
                <a:path w="1792224" h="1792224">
                  <a:moveTo>
                    <a:pt x="0" y="0"/>
                  </a:moveTo>
                  <a:lnTo>
                    <a:pt x="1792224" y="0"/>
                  </a:lnTo>
                  <a:lnTo>
                    <a:pt x="1792224" y="1792224"/>
                  </a:lnTo>
                  <a:lnTo>
                    <a:pt x="0" y="17922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2510028" y="5088636"/>
            <a:ext cx="1426464" cy="342900"/>
            <a:chOff x="0" y="0"/>
            <a:chExt cx="1901952" cy="4572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901952" cy="457200"/>
            </a:xfrm>
            <a:custGeom>
              <a:avLst/>
              <a:gdLst/>
              <a:ahLst/>
              <a:cxnLst/>
              <a:rect l="l" t="t" r="r" b="b"/>
              <a:pathLst>
                <a:path w="1901952" h="457200">
                  <a:moveTo>
                    <a:pt x="0" y="0"/>
                  </a:moveTo>
                  <a:lnTo>
                    <a:pt x="1901952" y="0"/>
                  </a:lnTo>
                  <a:lnTo>
                    <a:pt x="1901952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1057" b="-31057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9525"/>
              <a:ext cx="1901952" cy="4476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725">
                  <a:solidFill>
                    <a:srgbClr val="3F3438"/>
                  </a:solidFill>
                  <a:latin typeface="Canva Sans"/>
                  <a:ea typeface="Canva Sans"/>
                  <a:cs typeface="Canva Sans"/>
                  <a:sym typeface="Canva Sans"/>
                </a:rPr>
                <a:t>6: frog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2551176" y="5554980"/>
            <a:ext cx="1344168" cy="1344168"/>
            <a:chOff x="0" y="0"/>
            <a:chExt cx="1792224" cy="1792224"/>
          </a:xfrm>
        </p:grpSpPr>
        <p:sp>
          <p:nvSpPr>
            <p:cNvPr id="46" name="Freeform 46" descr="/mnt/data/slide2_assets/class_6.png"/>
            <p:cNvSpPr/>
            <p:nvPr/>
          </p:nvSpPr>
          <p:spPr>
            <a:xfrm>
              <a:off x="0" y="0"/>
              <a:ext cx="1792224" cy="1792224"/>
            </a:xfrm>
            <a:custGeom>
              <a:avLst/>
              <a:gdLst/>
              <a:ahLst/>
              <a:cxnLst/>
              <a:rect l="l" t="t" r="r" b="b"/>
              <a:pathLst>
                <a:path w="1792224" h="1792224">
                  <a:moveTo>
                    <a:pt x="0" y="0"/>
                  </a:moveTo>
                  <a:lnTo>
                    <a:pt x="1792224" y="0"/>
                  </a:lnTo>
                  <a:lnTo>
                    <a:pt x="1792224" y="1792224"/>
                  </a:lnTo>
                  <a:lnTo>
                    <a:pt x="0" y="17922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4073652" y="5088636"/>
            <a:ext cx="1426464" cy="342900"/>
            <a:chOff x="0" y="0"/>
            <a:chExt cx="1901952" cy="4572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901952" cy="457200"/>
            </a:xfrm>
            <a:custGeom>
              <a:avLst/>
              <a:gdLst/>
              <a:ahLst/>
              <a:cxnLst/>
              <a:rect l="l" t="t" r="r" b="b"/>
              <a:pathLst>
                <a:path w="1901952" h="457200">
                  <a:moveTo>
                    <a:pt x="0" y="0"/>
                  </a:moveTo>
                  <a:lnTo>
                    <a:pt x="1901952" y="0"/>
                  </a:lnTo>
                  <a:lnTo>
                    <a:pt x="1901952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1057" b="-31057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9525"/>
              <a:ext cx="1901952" cy="4476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725">
                  <a:solidFill>
                    <a:srgbClr val="3F3438"/>
                  </a:solidFill>
                  <a:latin typeface="Canva Sans"/>
                  <a:ea typeface="Canva Sans"/>
                  <a:cs typeface="Canva Sans"/>
                  <a:sym typeface="Canva Sans"/>
                </a:rPr>
                <a:t>7: horse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4114800" y="5554980"/>
            <a:ext cx="1344168" cy="1344168"/>
            <a:chOff x="0" y="0"/>
            <a:chExt cx="1792224" cy="1792224"/>
          </a:xfrm>
        </p:grpSpPr>
        <p:sp>
          <p:nvSpPr>
            <p:cNvPr id="51" name="Freeform 51" descr="/mnt/data/slide2_assets/class_7.png"/>
            <p:cNvSpPr/>
            <p:nvPr/>
          </p:nvSpPr>
          <p:spPr>
            <a:xfrm>
              <a:off x="0" y="0"/>
              <a:ext cx="1792224" cy="1792224"/>
            </a:xfrm>
            <a:custGeom>
              <a:avLst/>
              <a:gdLst/>
              <a:ahLst/>
              <a:cxnLst/>
              <a:rect l="l" t="t" r="r" b="b"/>
              <a:pathLst>
                <a:path w="1792224" h="1792224">
                  <a:moveTo>
                    <a:pt x="0" y="0"/>
                  </a:moveTo>
                  <a:lnTo>
                    <a:pt x="1792224" y="0"/>
                  </a:lnTo>
                  <a:lnTo>
                    <a:pt x="1792224" y="1792224"/>
                  </a:lnTo>
                  <a:lnTo>
                    <a:pt x="0" y="17922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5637276" y="5088636"/>
            <a:ext cx="1426464" cy="342900"/>
            <a:chOff x="0" y="0"/>
            <a:chExt cx="1901952" cy="45720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901952" cy="457200"/>
            </a:xfrm>
            <a:custGeom>
              <a:avLst/>
              <a:gdLst/>
              <a:ahLst/>
              <a:cxnLst/>
              <a:rect l="l" t="t" r="r" b="b"/>
              <a:pathLst>
                <a:path w="1901952" h="457200">
                  <a:moveTo>
                    <a:pt x="0" y="0"/>
                  </a:moveTo>
                  <a:lnTo>
                    <a:pt x="1901952" y="0"/>
                  </a:lnTo>
                  <a:lnTo>
                    <a:pt x="1901952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1057" b="-31057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9525"/>
              <a:ext cx="1901952" cy="4476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725">
                  <a:solidFill>
                    <a:srgbClr val="3F3438"/>
                  </a:solidFill>
                  <a:latin typeface="Canva Sans"/>
                  <a:ea typeface="Canva Sans"/>
                  <a:cs typeface="Canva Sans"/>
                  <a:sym typeface="Canva Sans"/>
                </a:rPr>
                <a:t>8: ship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678424" y="5554980"/>
            <a:ext cx="1344168" cy="1344168"/>
            <a:chOff x="0" y="0"/>
            <a:chExt cx="1792224" cy="1792224"/>
          </a:xfrm>
        </p:grpSpPr>
        <p:sp>
          <p:nvSpPr>
            <p:cNvPr id="56" name="Freeform 56" descr="/mnt/data/slide2_assets/class_8.png"/>
            <p:cNvSpPr/>
            <p:nvPr/>
          </p:nvSpPr>
          <p:spPr>
            <a:xfrm>
              <a:off x="0" y="0"/>
              <a:ext cx="1792224" cy="1792224"/>
            </a:xfrm>
            <a:custGeom>
              <a:avLst/>
              <a:gdLst/>
              <a:ahLst/>
              <a:cxnLst/>
              <a:rect l="l" t="t" r="r" b="b"/>
              <a:pathLst>
                <a:path w="1792224" h="1792224">
                  <a:moveTo>
                    <a:pt x="0" y="0"/>
                  </a:moveTo>
                  <a:lnTo>
                    <a:pt x="1792224" y="0"/>
                  </a:lnTo>
                  <a:lnTo>
                    <a:pt x="1792224" y="1792224"/>
                  </a:lnTo>
                  <a:lnTo>
                    <a:pt x="0" y="17922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7200900" y="5088636"/>
            <a:ext cx="1426464" cy="342900"/>
            <a:chOff x="0" y="0"/>
            <a:chExt cx="1901952" cy="45720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1901952" cy="457200"/>
            </a:xfrm>
            <a:custGeom>
              <a:avLst/>
              <a:gdLst/>
              <a:ahLst/>
              <a:cxnLst/>
              <a:rect l="l" t="t" r="r" b="b"/>
              <a:pathLst>
                <a:path w="1901952" h="457200">
                  <a:moveTo>
                    <a:pt x="0" y="0"/>
                  </a:moveTo>
                  <a:lnTo>
                    <a:pt x="1901952" y="0"/>
                  </a:lnTo>
                  <a:lnTo>
                    <a:pt x="1901952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1057" b="-31057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0" y="9525"/>
              <a:ext cx="1901952" cy="4476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725">
                  <a:solidFill>
                    <a:srgbClr val="3F3438"/>
                  </a:solidFill>
                  <a:latin typeface="Canva Sans"/>
                  <a:ea typeface="Canva Sans"/>
                  <a:cs typeface="Canva Sans"/>
                  <a:sym typeface="Canva Sans"/>
                </a:rPr>
                <a:t>9: truck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7242048" y="5554980"/>
            <a:ext cx="1344168" cy="1344168"/>
            <a:chOff x="0" y="0"/>
            <a:chExt cx="1792224" cy="1792224"/>
          </a:xfrm>
        </p:grpSpPr>
        <p:sp>
          <p:nvSpPr>
            <p:cNvPr id="61" name="Freeform 61" descr="/mnt/data/slide2_assets/class_9.png"/>
            <p:cNvSpPr/>
            <p:nvPr/>
          </p:nvSpPr>
          <p:spPr>
            <a:xfrm>
              <a:off x="0" y="0"/>
              <a:ext cx="1792224" cy="1792224"/>
            </a:xfrm>
            <a:custGeom>
              <a:avLst/>
              <a:gdLst/>
              <a:ahLst/>
              <a:cxnLst/>
              <a:rect l="l" t="t" r="r" b="b"/>
              <a:pathLst>
                <a:path w="1792224" h="1792224">
                  <a:moveTo>
                    <a:pt x="0" y="0"/>
                  </a:moveTo>
                  <a:lnTo>
                    <a:pt x="1792224" y="0"/>
                  </a:lnTo>
                  <a:lnTo>
                    <a:pt x="1792224" y="1792224"/>
                  </a:lnTo>
                  <a:lnTo>
                    <a:pt x="0" y="17922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165860" y="7612380"/>
            <a:ext cx="7434072" cy="466344"/>
            <a:chOff x="0" y="0"/>
            <a:chExt cx="9912096" cy="621792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9912096" cy="621792"/>
            </a:xfrm>
            <a:custGeom>
              <a:avLst/>
              <a:gdLst/>
              <a:ahLst/>
              <a:cxnLst/>
              <a:rect l="l" t="t" r="r" b="b"/>
              <a:pathLst>
                <a:path w="9912096" h="621792">
                  <a:moveTo>
                    <a:pt x="0" y="0"/>
                  </a:moveTo>
                  <a:lnTo>
                    <a:pt x="9912096" y="0"/>
                  </a:lnTo>
                  <a:lnTo>
                    <a:pt x="9912096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60614" b="-260614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0" y="-9525"/>
              <a:ext cx="9912096" cy="6313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30"/>
                </a:lnSpc>
              </a:pPr>
              <a:r>
                <a:rPr lang="en-US" sz="2025" b="1">
                  <a:solidFill>
                    <a:srgbClr val="4B173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Balanced across all 10 classes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1165860" y="8065008"/>
            <a:ext cx="7434072" cy="384048"/>
            <a:chOff x="0" y="0"/>
            <a:chExt cx="9912096" cy="512064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9912096" cy="512064"/>
            </a:xfrm>
            <a:custGeom>
              <a:avLst/>
              <a:gdLst/>
              <a:ahLst/>
              <a:cxnLst/>
              <a:rect l="l" t="t" r="r" b="b"/>
              <a:pathLst>
                <a:path w="9912096" h="512064">
                  <a:moveTo>
                    <a:pt x="0" y="0"/>
                  </a:moveTo>
                  <a:lnTo>
                    <a:pt x="9912096" y="0"/>
                  </a:lnTo>
                  <a:lnTo>
                    <a:pt x="9912096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27174" b="-327174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0" y="9525"/>
              <a:ext cx="9912096" cy="5025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725">
                  <a:solidFill>
                    <a:srgbClr val="75646B"/>
                  </a:solidFill>
                  <a:latin typeface="Canva Sans"/>
                  <a:ea typeface="Canva Sans"/>
                  <a:cs typeface="Canva Sans"/>
                  <a:sym typeface="Canva Sans"/>
                </a:rPr>
                <a:t>No class weighting, oversampling or undersampling required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9584055" y="1524286"/>
            <a:ext cx="3017520" cy="631348"/>
            <a:chOff x="0" y="0"/>
            <a:chExt cx="4023360" cy="841797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4023360" cy="841797"/>
            </a:xfrm>
            <a:custGeom>
              <a:avLst/>
              <a:gdLst/>
              <a:ahLst/>
              <a:cxnLst/>
              <a:rect l="l" t="t" r="r" b="b"/>
              <a:pathLst>
                <a:path w="4023360" h="841797">
                  <a:moveTo>
                    <a:pt x="0" y="0"/>
                  </a:moveTo>
                  <a:lnTo>
                    <a:pt x="4023360" y="0"/>
                  </a:lnTo>
                  <a:lnTo>
                    <a:pt x="4023360" y="841797"/>
                  </a:lnTo>
                  <a:lnTo>
                    <a:pt x="0" y="84179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7506" b="-38750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0" y="0"/>
              <a:ext cx="4023360" cy="8417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779"/>
                </a:lnSpc>
              </a:pPr>
              <a:r>
                <a:rPr lang="en-US" sz="3150" b="1">
                  <a:solidFill>
                    <a:srgbClr val="4B173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Dataset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9811131" y="2363343"/>
            <a:ext cx="115062" cy="115062"/>
            <a:chOff x="0" y="0"/>
            <a:chExt cx="153416" cy="153416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153416" cy="153416"/>
            </a:xfrm>
            <a:custGeom>
              <a:avLst/>
              <a:gdLst/>
              <a:ahLst/>
              <a:cxnLst/>
              <a:rect l="l" t="t" r="r" b="b"/>
              <a:pathLst>
                <a:path w="153416" h="153416">
                  <a:moveTo>
                    <a:pt x="0" y="76708"/>
                  </a:moveTo>
                  <a:cubicBezTo>
                    <a:pt x="0" y="34290"/>
                    <a:pt x="34290" y="0"/>
                    <a:pt x="76708" y="0"/>
                  </a:cubicBezTo>
                  <a:cubicBezTo>
                    <a:pt x="119126" y="0"/>
                    <a:pt x="153416" y="34290"/>
                    <a:pt x="153416" y="76708"/>
                  </a:cubicBezTo>
                  <a:cubicBezTo>
                    <a:pt x="153416" y="119126"/>
                    <a:pt x="119126" y="153416"/>
                    <a:pt x="76708" y="153416"/>
                  </a:cubicBezTo>
                  <a:cubicBezTo>
                    <a:pt x="34290" y="153416"/>
                    <a:pt x="0" y="119126"/>
                    <a:pt x="0" y="76708"/>
                  </a:cubicBezTo>
                  <a:close/>
                </a:path>
              </a:pathLst>
            </a:custGeom>
            <a:solidFill>
              <a:srgbClr val="4B1730"/>
            </a:solidFill>
            <a:ln w="19050" cap="sq">
              <a:solidFill>
                <a:srgbClr val="4B1730"/>
              </a:solidFill>
              <a:prstDash val="solid"/>
              <a:miter/>
            </a:ln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10067544" y="2196465"/>
            <a:ext cx="7475220" cy="428725"/>
            <a:chOff x="0" y="0"/>
            <a:chExt cx="9966960" cy="571634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9966960" cy="571634"/>
            </a:xfrm>
            <a:custGeom>
              <a:avLst/>
              <a:gdLst/>
              <a:ahLst/>
              <a:cxnLst/>
              <a:rect l="l" t="t" r="r" b="b"/>
              <a:pathLst>
                <a:path w="9966960" h="571634">
                  <a:moveTo>
                    <a:pt x="0" y="0"/>
                  </a:moveTo>
                  <a:lnTo>
                    <a:pt x="9966960" y="0"/>
                  </a:lnTo>
                  <a:lnTo>
                    <a:pt x="9966960" y="571634"/>
                  </a:lnTo>
                  <a:lnTo>
                    <a:pt x="0" y="57163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91750" b="-287728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0" y="0"/>
              <a:ext cx="9966960" cy="57163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56"/>
                </a:lnSpc>
              </a:pPr>
              <a:r>
                <a:rPr lang="en-US" sz="2130">
                  <a:solidFill>
                    <a:srgbClr val="3F3438"/>
                  </a:solidFill>
                  <a:latin typeface="Canva Sans"/>
                  <a:ea typeface="Canva Sans"/>
                  <a:cs typeface="Canva Sans"/>
                  <a:sym typeface="Canva Sans"/>
                </a:rPr>
                <a:t>60,000 RGB images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9811131" y="2829687"/>
            <a:ext cx="115062" cy="115062"/>
            <a:chOff x="0" y="0"/>
            <a:chExt cx="153416" cy="153416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153416" cy="153416"/>
            </a:xfrm>
            <a:custGeom>
              <a:avLst/>
              <a:gdLst/>
              <a:ahLst/>
              <a:cxnLst/>
              <a:rect l="l" t="t" r="r" b="b"/>
              <a:pathLst>
                <a:path w="153416" h="153416">
                  <a:moveTo>
                    <a:pt x="0" y="76708"/>
                  </a:moveTo>
                  <a:cubicBezTo>
                    <a:pt x="0" y="34290"/>
                    <a:pt x="34290" y="0"/>
                    <a:pt x="76708" y="0"/>
                  </a:cubicBezTo>
                  <a:cubicBezTo>
                    <a:pt x="119126" y="0"/>
                    <a:pt x="153416" y="34290"/>
                    <a:pt x="153416" y="76708"/>
                  </a:cubicBezTo>
                  <a:cubicBezTo>
                    <a:pt x="153416" y="119126"/>
                    <a:pt x="119126" y="153416"/>
                    <a:pt x="76708" y="153416"/>
                  </a:cubicBezTo>
                  <a:cubicBezTo>
                    <a:pt x="34290" y="153416"/>
                    <a:pt x="0" y="119126"/>
                    <a:pt x="0" y="76708"/>
                  </a:cubicBezTo>
                  <a:close/>
                </a:path>
              </a:pathLst>
            </a:custGeom>
            <a:solidFill>
              <a:srgbClr val="4B1730"/>
            </a:solidFill>
            <a:ln w="19050" cap="sq">
              <a:solidFill>
                <a:srgbClr val="4B1730"/>
              </a:solidFill>
              <a:prstDash val="solid"/>
              <a:miter/>
            </a:ln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10067544" y="2691865"/>
            <a:ext cx="7475220" cy="428725"/>
            <a:chOff x="0" y="0"/>
            <a:chExt cx="9966960" cy="571634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9966960" cy="571634"/>
            </a:xfrm>
            <a:custGeom>
              <a:avLst/>
              <a:gdLst/>
              <a:ahLst/>
              <a:cxnLst/>
              <a:rect l="l" t="t" r="r" b="b"/>
              <a:pathLst>
                <a:path w="9966960" h="571634">
                  <a:moveTo>
                    <a:pt x="0" y="0"/>
                  </a:moveTo>
                  <a:lnTo>
                    <a:pt x="9966960" y="0"/>
                  </a:lnTo>
                  <a:lnTo>
                    <a:pt x="9966960" y="571634"/>
                  </a:lnTo>
                  <a:lnTo>
                    <a:pt x="0" y="57163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91750" b="-287728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0" y="0"/>
              <a:ext cx="9966960" cy="57163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56"/>
                </a:lnSpc>
              </a:pPr>
              <a:r>
                <a:rPr lang="en-US" sz="2130">
                  <a:solidFill>
                    <a:srgbClr val="3F3438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Image size: 32 × 32 × 3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9811131" y="3296031"/>
            <a:ext cx="115062" cy="115062"/>
            <a:chOff x="0" y="0"/>
            <a:chExt cx="153416" cy="153416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153416" cy="153416"/>
            </a:xfrm>
            <a:custGeom>
              <a:avLst/>
              <a:gdLst/>
              <a:ahLst/>
              <a:cxnLst/>
              <a:rect l="l" t="t" r="r" b="b"/>
              <a:pathLst>
                <a:path w="153416" h="153416">
                  <a:moveTo>
                    <a:pt x="0" y="76708"/>
                  </a:moveTo>
                  <a:cubicBezTo>
                    <a:pt x="0" y="34290"/>
                    <a:pt x="34290" y="0"/>
                    <a:pt x="76708" y="0"/>
                  </a:cubicBezTo>
                  <a:cubicBezTo>
                    <a:pt x="119126" y="0"/>
                    <a:pt x="153416" y="34290"/>
                    <a:pt x="153416" y="76708"/>
                  </a:cubicBezTo>
                  <a:cubicBezTo>
                    <a:pt x="153416" y="119126"/>
                    <a:pt x="119126" y="153416"/>
                    <a:pt x="76708" y="153416"/>
                  </a:cubicBezTo>
                  <a:cubicBezTo>
                    <a:pt x="34290" y="153416"/>
                    <a:pt x="0" y="119126"/>
                    <a:pt x="0" y="76708"/>
                  </a:cubicBezTo>
                  <a:close/>
                </a:path>
              </a:pathLst>
            </a:custGeom>
            <a:solidFill>
              <a:srgbClr val="4B1730"/>
            </a:solidFill>
            <a:ln w="19050" cap="sq">
              <a:solidFill>
                <a:srgbClr val="4B1730"/>
              </a:solidFill>
              <a:prstDash val="solid"/>
              <a:miter/>
            </a:ln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10067544" y="3187266"/>
            <a:ext cx="7475220" cy="428725"/>
            <a:chOff x="0" y="0"/>
            <a:chExt cx="9966960" cy="571634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9966960" cy="571634"/>
            </a:xfrm>
            <a:custGeom>
              <a:avLst/>
              <a:gdLst/>
              <a:ahLst/>
              <a:cxnLst/>
              <a:rect l="l" t="t" r="r" b="b"/>
              <a:pathLst>
                <a:path w="9966960" h="571634">
                  <a:moveTo>
                    <a:pt x="0" y="0"/>
                  </a:moveTo>
                  <a:lnTo>
                    <a:pt x="9966960" y="0"/>
                  </a:lnTo>
                  <a:lnTo>
                    <a:pt x="9966960" y="571634"/>
                  </a:lnTo>
                  <a:lnTo>
                    <a:pt x="0" y="57163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91750" b="-287728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0" y="0"/>
              <a:ext cx="9966960" cy="57163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56"/>
                </a:lnSpc>
              </a:pPr>
              <a:r>
                <a:rPr lang="en-US" sz="2130">
                  <a:solidFill>
                    <a:srgbClr val="3F3438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10 balanced classes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13535587" y="2273252"/>
            <a:ext cx="115062" cy="115062"/>
            <a:chOff x="0" y="0"/>
            <a:chExt cx="153416" cy="153416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153416" cy="153416"/>
            </a:xfrm>
            <a:custGeom>
              <a:avLst/>
              <a:gdLst/>
              <a:ahLst/>
              <a:cxnLst/>
              <a:rect l="l" t="t" r="r" b="b"/>
              <a:pathLst>
                <a:path w="153416" h="153416">
                  <a:moveTo>
                    <a:pt x="0" y="76708"/>
                  </a:moveTo>
                  <a:cubicBezTo>
                    <a:pt x="0" y="34290"/>
                    <a:pt x="34290" y="0"/>
                    <a:pt x="76708" y="0"/>
                  </a:cubicBezTo>
                  <a:cubicBezTo>
                    <a:pt x="119126" y="0"/>
                    <a:pt x="153416" y="34290"/>
                    <a:pt x="153416" y="76708"/>
                  </a:cubicBezTo>
                  <a:cubicBezTo>
                    <a:pt x="153416" y="119126"/>
                    <a:pt x="119126" y="153416"/>
                    <a:pt x="76708" y="153416"/>
                  </a:cubicBezTo>
                  <a:cubicBezTo>
                    <a:pt x="34290" y="153416"/>
                    <a:pt x="0" y="119126"/>
                    <a:pt x="0" y="76708"/>
                  </a:cubicBezTo>
                  <a:close/>
                </a:path>
              </a:pathLst>
            </a:custGeom>
            <a:solidFill>
              <a:srgbClr val="4B1730"/>
            </a:solidFill>
            <a:ln w="19050" cap="sq">
              <a:solidFill>
                <a:srgbClr val="4B1730"/>
              </a:solidFill>
              <a:prstDash val="solid"/>
              <a:miter/>
            </a:ln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88" name="AutoShape 88"/>
          <p:cNvSpPr/>
          <p:nvPr/>
        </p:nvSpPr>
        <p:spPr>
          <a:xfrm>
            <a:off x="9619479" y="4496752"/>
            <a:ext cx="7868408" cy="22797"/>
          </a:xfrm>
          <a:prstGeom prst="line">
            <a:avLst/>
          </a:prstGeom>
          <a:ln w="9525" cap="rnd">
            <a:solidFill>
              <a:srgbClr val="E0BCC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SG"/>
          </a:p>
        </p:txBody>
      </p:sp>
      <p:grpSp>
        <p:nvGrpSpPr>
          <p:cNvPr id="89" name="Group 89"/>
          <p:cNvGrpSpPr/>
          <p:nvPr/>
        </p:nvGrpSpPr>
        <p:grpSpPr>
          <a:xfrm>
            <a:off x="9584055" y="4472940"/>
            <a:ext cx="3840480" cy="631348"/>
            <a:chOff x="0" y="0"/>
            <a:chExt cx="5120640" cy="841797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5120640" cy="841797"/>
            </a:xfrm>
            <a:custGeom>
              <a:avLst/>
              <a:gdLst/>
              <a:ahLst/>
              <a:cxnLst/>
              <a:rect l="l" t="t" r="r" b="b"/>
              <a:pathLst>
                <a:path w="5120640" h="841797">
                  <a:moveTo>
                    <a:pt x="0" y="0"/>
                  </a:moveTo>
                  <a:lnTo>
                    <a:pt x="5120640" y="0"/>
                  </a:lnTo>
                  <a:lnTo>
                    <a:pt x="5120640" y="841797"/>
                  </a:lnTo>
                  <a:lnTo>
                    <a:pt x="0" y="84179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72904" b="-64149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0" y="0"/>
              <a:ext cx="5120640" cy="8417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779"/>
                </a:lnSpc>
              </a:pPr>
              <a:r>
                <a:rPr lang="en-US" sz="3150" b="1">
                  <a:solidFill>
                    <a:srgbClr val="4B173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Preprocessing</a:t>
              </a: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10688483" y="5054319"/>
            <a:ext cx="2701852" cy="1029109"/>
            <a:chOff x="0" y="0"/>
            <a:chExt cx="3690620" cy="1405721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3690620" cy="1405721"/>
            </a:xfrm>
            <a:custGeom>
              <a:avLst/>
              <a:gdLst/>
              <a:ahLst/>
              <a:cxnLst/>
              <a:rect l="l" t="t" r="r" b="b"/>
              <a:pathLst>
                <a:path w="3690620" h="1405721">
                  <a:moveTo>
                    <a:pt x="0" y="234236"/>
                  </a:moveTo>
                  <a:cubicBezTo>
                    <a:pt x="0" y="104955"/>
                    <a:pt x="87122" y="0"/>
                    <a:pt x="194437" y="0"/>
                  </a:cubicBezTo>
                  <a:lnTo>
                    <a:pt x="3496183" y="0"/>
                  </a:lnTo>
                  <a:cubicBezTo>
                    <a:pt x="3603625" y="0"/>
                    <a:pt x="3690620" y="104955"/>
                    <a:pt x="3690620" y="234236"/>
                  </a:cubicBezTo>
                  <a:lnTo>
                    <a:pt x="3690620" y="1171485"/>
                  </a:lnTo>
                  <a:cubicBezTo>
                    <a:pt x="3690620" y="1300920"/>
                    <a:pt x="3603498" y="1405721"/>
                    <a:pt x="3496183" y="1405721"/>
                  </a:cubicBezTo>
                  <a:lnTo>
                    <a:pt x="194437" y="1405721"/>
                  </a:lnTo>
                  <a:cubicBezTo>
                    <a:pt x="87122" y="1405721"/>
                    <a:pt x="0" y="1300766"/>
                    <a:pt x="0" y="1171485"/>
                  </a:cubicBezTo>
                  <a:close/>
                </a:path>
              </a:pathLst>
            </a:custGeom>
            <a:solidFill>
              <a:srgbClr val="FAEFF3"/>
            </a:solidFill>
            <a:ln w="24765" cap="sq">
              <a:solidFill>
                <a:srgbClr val="C88FA3"/>
              </a:solidFill>
              <a:prstDash val="solid"/>
              <a:miter/>
            </a:ln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10739428" y="5202849"/>
            <a:ext cx="2551176" cy="732048"/>
            <a:chOff x="0" y="0"/>
            <a:chExt cx="3401568" cy="976064"/>
          </a:xfrm>
        </p:grpSpPr>
        <p:sp>
          <p:nvSpPr>
            <p:cNvPr id="95" name="Freeform 95"/>
            <p:cNvSpPr/>
            <p:nvPr/>
          </p:nvSpPr>
          <p:spPr>
            <a:xfrm>
              <a:off x="0" y="0"/>
              <a:ext cx="3401568" cy="976064"/>
            </a:xfrm>
            <a:custGeom>
              <a:avLst/>
              <a:gdLst/>
              <a:ahLst/>
              <a:cxnLst/>
              <a:rect l="l" t="t" r="r" b="b"/>
              <a:pathLst>
                <a:path w="3401568" h="976064">
                  <a:moveTo>
                    <a:pt x="0" y="0"/>
                  </a:moveTo>
                  <a:lnTo>
                    <a:pt x="3401568" y="0"/>
                  </a:lnTo>
                  <a:lnTo>
                    <a:pt x="3401568" y="976064"/>
                  </a:lnTo>
                  <a:lnTo>
                    <a:pt x="0" y="976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1063" b="-14746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0" y="0"/>
              <a:ext cx="3401568" cy="9760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4B173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CIFAR-10 pixels</a:t>
              </a:r>
            </a:p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4B173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0–255 (uint8)</a:t>
              </a:r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9618154" y="6914197"/>
            <a:ext cx="2421255" cy="1612011"/>
            <a:chOff x="0" y="0"/>
            <a:chExt cx="3228340" cy="2149348"/>
          </a:xfrm>
        </p:grpSpPr>
        <p:sp>
          <p:nvSpPr>
            <p:cNvPr id="98" name="Freeform 98"/>
            <p:cNvSpPr/>
            <p:nvPr/>
          </p:nvSpPr>
          <p:spPr>
            <a:xfrm>
              <a:off x="0" y="0"/>
              <a:ext cx="3228340" cy="2149348"/>
            </a:xfrm>
            <a:custGeom>
              <a:avLst/>
              <a:gdLst/>
              <a:ahLst/>
              <a:cxnLst/>
              <a:rect l="l" t="t" r="r" b="b"/>
              <a:pathLst>
                <a:path w="3228340" h="2149348">
                  <a:moveTo>
                    <a:pt x="0" y="358267"/>
                  </a:moveTo>
                  <a:cubicBezTo>
                    <a:pt x="0" y="160401"/>
                    <a:pt x="160401" y="0"/>
                    <a:pt x="358267" y="0"/>
                  </a:cubicBezTo>
                  <a:lnTo>
                    <a:pt x="2870073" y="0"/>
                  </a:lnTo>
                  <a:cubicBezTo>
                    <a:pt x="3067939" y="0"/>
                    <a:pt x="3228340" y="160401"/>
                    <a:pt x="3228340" y="358267"/>
                  </a:cubicBezTo>
                  <a:lnTo>
                    <a:pt x="3228340" y="1791081"/>
                  </a:lnTo>
                  <a:cubicBezTo>
                    <a:pt x="3228340" y="1988947"/>
                    <a:pt x="3067939" y="2149348"/>
                    <a:pt x="2870073" y="2149348"/>
                  </a:cubicBezTo>
                  <a:lnTo>
                    <a:pt x="358267" y="2149348"/>
                  </a:lnTo>
                  <a:cubicBezTo>
                    <a:pt x="160401" y="2149348"/>
                    <a:pt x="0" y="1988947"/>
                    <a:pt x="0" y="1791081"/>
                  </a:cubicBezTo>
                  <a:close/>
                </a:path>
              </a:pathLst>
            </a:custGeom>
            <a:solidFill>
              <a:srgbClr val="F5E4EA"/>
            </a:solidFill>
            <a:ln w="20955" cap="sq">
              <a:solidFill>
                <a:srgbClr val="C88FA3"/>
              </a:solidFill>
              <a:prstDash val="solid"/>
              <a:miter/>
            </a:ln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9710928" y="6956157"/>
            <a:ext cx="2235708" cy="506555"/>
            <a:chOff x="0" y="0"/>
            <a:chExt cx="2980944" cy="675407"/>
          </a:xfrm>
        </p:grpSpPr>
        <p:sp>
          <p:nvSpPr>
            <p:cNvPr id="100" name="Freeform 100"/>
            <p:cNvSpPr/>
            <p:nvPr/>
          </p:nvSpPr>
          <p:spPr>
            <a:xfrm>
              <a:off x="0" y="0"/>
              <a:ext cx="2980944" cy="675407"/>
            </a:xfrm>
            <a:custGeom>
              <a:avLst/>
              <a:gdLst/>
              <a:ahLst/>
              <a:cxnLst/>
              <a:rect l="l" t="t" r="r" b="b"/>
              <a:pathLst>
                <a:path w="2980944" h="675407">
                  <a:moveTo>
                    <a:pt x="0" y="0"/>
                  </a:moveTo>
                  <a:lnTo>
                    <a:pt x="2980944" y="0"/>
                  </a:lnTo>
                  <a:lnTo>
                    <a:pt x="2980944" y="675407"/>
                  </a:lnTo>
                  <a:lnTo>
                    <a:pt x="0" y="67540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8090" b="-23906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0" y="0"/>
              <a:ext cx="2980944" cy="67540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60"/>
                </a:lnSpc>
              </a:pPr>
              <a:r>
                <a:rPr lang="en-US" sz="2550" b="1">
                  <a:solidFill>
                    <a:srgbClr val="4B173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VAE</a:t>
              </a:r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9710928" y="7529909"/>
            <a:ext cx="2235708" cy="949570"/>
            <a:chOff x="0" y="0"/>
            <a:chExt cx="2980944" cy="1266093"/>
          </a:xfrm>
        </p:grpSpPr>
        <p:sp>
          <p:nvSpPr>
            <p:cNvPr id="103" name="Freeform 103"/>
            <p:cNvSpPr/>
            <p:nvPr/>
          </p:nvSpPr>
          <p:spPr>
            <a:xfrm>
              <a:off x="0" y="0"/>
              <a:ext cx="2980944" cy="1266093"/>
            </a:xfrm>
            <a:custGeom>
              <a:avLst/>
              <a:gdLst/>
              <a:ahLst/>
              <a:cxnLst/>
              <a:rect l="l" t="t" r="r" b="b"/>
              <a:pathLst>
                <a:path w="2980944" h="1266093">
                  <a:moveTo>
                    <a:pt x="0" y="0"/>
                  </a:moveTo>
                  <a:lnTo>
                    <a:pt x="2980944" y="0"/>
                  </a:lnTo>
                  <a:lnTo>
                    <a:pt x="2980944" y="1266093"/>
                  </a:lnTo>
                  <a:lnTo>
                    <a:pt x="0" y="126609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51" r="-1951" b="4666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0" y="0"/>
              <a:ext cx="2980944" cy="126609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50"/>
                </a:lnSpc>
              </a:pPr>
              <a:r>
                <a:rPr lang="en-US" sz="1875">
                  <a:solidFill>
                    <a:srgbClr val="3F3438"/>
                  </a:solidFill>
                  <a:latin typeface="Canva Sans"/>
                  <a:ea typeface="Canva Sans"/>
                  <a:cs typeface="Canva Sans"/>
                  <a:sym typeface="Canva Sans"/>
                </a:rPr>
                <a:t>float32</a:t>
              </a:r>
            </a:p>
            <a:p>
              <a:pPr algn="ctr">
                <a:lnSpc>
                  <a:spcPts val="2250"/>
                </a:lnSpc>
              </a:pPr>
              <a:r>
                <a:rPr lang="en-US" sz="1875">
                  <a:solidFill>
                    <a:srgbClr val="3F3438"/>
                  </a:solidFill>
                  <a:latin typeface="Canva Sans"/>
                  <a:ea typeface="Canva Sans"/>
                  <a:cs typeface="Canva Sans"/>
                  <a:sym typeface="Canva Sans"/>
                </a:rPr>
                <a:t>[0, 1]</a:t>
              </a:r>
            </a:p>
            <a:p>
              <a:pPr algn="ctr">
                <a:lnSpc>
                  <a:spcPts val="2250"/>
                </a:lnSpc>
              </a:pPr>
              <a:r>
                <a:rPr lang="en-US" sz="1875">
                  <a:solidFill>
                    <a:srgbClr val="3F3438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sigmoid output</a:t>
              </a:r>
            </a:p>
          </p:txBody>
        </p:sp>
      </p:grpSp>
      <p:grpSp>
        <p:nvGrpSpPr>
          <p:cNvPr id="105" name="Group 105"/>
          <p:cNvGrpSpPr/>
          <p:nvPr/>
        </p:nvGrpSpPr>
        <p:grpSpPr>
          <a:xfrm>
            <a:off x="12440022" y="6914197"/>
            <a:ext cx="2421255" cy="1612011"/>
            <a:chOff x="0" y="0"/>
            <a:chExt cx="3228340" cy="2149348"/>
          </a:xfrm>
        </p:grpSpPr>
        <p:sp>
          <p:nvSpPr>
            <p:cNvPr id="106" name="Freeform 106"/>
            <p:cNvSpPr/>
            <p:nvPr/>
          </p:nvSpPr>
          <p:spPr>
            <a:xfrm>
              <a:off x="0" y="0"/>
              <a:ext cx="3228340" cy="2149348"/>
            </a:xfrm>
            <a:custGeom>
              <a:avLst/>
              <a:gdLst/>
              <a:ahLst/>
              <a:cxnLst/>
              <a:rect l="l" t="t" r="r" b="b"/>
              <a:pathLst>
                <a:path w="3228340" h="2149348">
                  <a:moveTo>
                    <a:pt x="0" y="358267"/>
                  </a:moveTo>
                  <a:cubicBezTo>
                    <a:pt x="0" y="160401"/>
                    <a:pt x="160401" y="0"/>
                    <a:pt x="358267" y="0"/>
                  </a:cubicBezTo>
                  <a:lnTo>
                    <a:pt x="2870073" y="0"/>
                  </a:lnTo>
                  <a:cubicBezTo>
                    <a:pt x="3067939" y="0"/>
                    <a:pt x="3228340" y="160401"/>
                    <a:pt x="3228340" y="358267"/>
                  </a:cubicBezTo>
                  <a:lnTo>
                    <a:pt x="3228340" y="1791081"/>
                  </a:lnTo>
                  <a:cubicBezTo>
                    <a:pt x="3228340" y="1988947"/>
                    <a:pt x="3067939" y="2149348"/>
                    <a:pt x="2870073" y="2149348"/>
                  </a:cubicBezTo>
                  <a:lnTo>
                    <a:pt x="358267" y="2149348"/>
                  </a:lnTo>
                  <a:cubicBezTo>
                    <a:pt x="160401" y="2149348"/>
                    <a:pt x="0" y="1988947"/>
                    <a:pt x="0" y="1791081"/>
                  </a:cubicBezTo>
                  <a:close/>
                </a:path>
              </a:pathLst>
            </a:custGeom>
            <a:solidFill>
              <a:srgbClr val="F5E4EA"/>
            </a:solidFill>
            <a:ln w="20955" cap="sq">
              <a:solidFill>
                <a:srgbClr val="C88FA3"/>
              </a:solidFill>
              <a:prstDash val="solid"/>
              <a:miter/>
            </a:ln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107" name="Group 107"/>
          <p:cNvGrpSpPr/>
          <p:nvPr/>
        </p:nvGrpSpPr>
        <p:grpSpPr>
          <a:xfrm>
            <a:off x="12532795" y="6928104"/>
            <a:ext cx="2235708" cy="506555"/>
            <a:chOff x="0" y="0"/>
            <a:chExt cx="2980944" cy="675407"/>
          </a:xfrm>
        </p:grpSpPr>
        <p:sp>
          <p:nvSpPr>
            <p:cNvPr id="108" name="Freeform 108"/>
            <p:cNvSpPr/>
            <p:nvPr/>
          </p:nvSpPr>
          <p:spPr>
            <a:xfrm>
              <a:off x="0" y="0"/>
              <a:ext cx="2980944" cy="675407"/>
            </a:xfrm>
            <a:custGeom>
              <a:avLst/>
              <a:gdLst/>
              <a:ahLst/>
              <a:cxnLst/>
              <a:rect l="l" t="t" r="r" b="b"/>
              <a:pathLst>
                <a:path w="2980944" h="675407">
                  <a:moveTo>
                    <a:pt x="0" y="0"/>
                  </a:moveTo>
                  <a:lnTo>
                    <a:pt x="2980944" y="0"/>
                  </a:lnTo>
                  <a:lnTo>
                    <a:pt x="2980944" y="675407"/>
                  </a:lnTo>
                  <a:lnTo>
                    <a:pt x="0" y="67540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8090" b="-23906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0" y="0"/>
              <a:ext cx="2980944" cy="67540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60"/>
                </a:lnSpc>
              </a:pPr>
              <a:r>
                <a:rPr lang="en-US" sz="2550" b="1">
                  <a:solidFill>
                    <a:srgbClr val="4B173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DCGAN</a:t>
              </a:r>
            </a:p>
          </p:txBody>
        </p:sp>
      </p:grpSp>
      <p:grpSp>
        <p:nvGrpSpPr>
          <p:cNvPr id="110" name="Group 110"/>
          <p:cNvGrpSpPr/>
          <p:nvPr/>
        </p:nvGrpSpPr>
        <p:grpSpPr>
          <a:xfrm>
            <a:off x="12564332" y="7434659"/>
            <a:ext cx="2235708" cy="949570"/>
            <a:chOff x="0" y="0"/>
            <a:chExt cx="2980944" cy="1266093"/>
          </a:xfrm>
        </p:grpSpPr>
        <p:sp>
          <p:nvSpPr>
            <p:cNvPr id="111" name="Freeform 111"/>
            <p:cNvSpPr/>
            <p:nvPr/>
          </p:nvSpPr>
          <p:spPr>
            <a:xfrm>
              <a:off x="0" y="0"/>
              <a:ext cx="2980944" cy="1266093"/>
            </a:xfrm>
            <a:custGeom>
              <a:avLst/>
              <a:gdLst/>
              <a:ahLst/>
              <a:cxnLst/>
              <a:rect l="l" t="t" r="r" b="b"/>
              <a:pathLst>
                <a:path w="2980944" h="1266093">
                  <a:moveTo>
                    <a:pt x="0" y="0"/>
                  </a:moveTo>
                  <a:lnTo>
                    <a:pt x="2980944" y="0"/>
                  </a:lnTo>
                  <a:lnTo>
                    <a:pt x="2980944" y="1266093"/>
                  </a:lnTo>
                  <a:lnTo>
                    <a:pt x="0" y="126609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51" r="-1951" b="4666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0" y="0"/>
              <a:ext cx="2980944" cy="126609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50"/>
                </a:lnSpc>
              </a:pPr>
              <a:r>
                <a:rPr lang="en-US" sz="1875">
                  <a:solidFill>
                    <a:srgbClr val="3F3438"/>
                  </a:solidFill>
                  <a:latin typeface="Canva Sans"/>
                  <a:ea typeface="Canva Sans"/>
                  <a:cs typeface="Canva Sans"/>
                  <a:sym typeface="Canva Sans"/>
                </a:rPr>
                <a:t>float32</a:t>
              </a:r>
            </a:p>
            <a:p>
              <a:pPr algn="ctr">
                <a:lnSpc>
                  <a:spcPts val="2250"/>
                </a:lnSpc>
              </a:pPr>
              <a:r>
                <a:rPr lang="en-US" sz="1875">
                  <a:solidFill>
                    <a:srgbClr val="3F3438"/>
                  </a:solidFill>
                  <a:latin typeface="Canva Sans"/>
                  <a:ea typeface="Canva Sans"/>
                  <a:cs typeface="Canva Sans"/>
                  <a:sym typeface="Canva Sans"/>
                </a:rPr>
                <a:t>[-1, 1]</a:t>
              </a:r>
            </a:p>
            <a:p>
              <a:pPr algn="ctr">
                <a:lnSpc>
                  <a:spcPts val="2250"/>
                </a:lnSpc>
              </a:pPr>
              <a:r>
                <a:rPr lang="en-US" sz="1875">
                  <a:solidFill>
                    <a:srgbClr val="3F3438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tanh output</a:t>
              </a:r>
            </a:p>
          </p:txBody>
        </p:sp>
      </p:grpSp>
      <p:sp>
        <p:nvSpPr>
          <p:cNvPr id="113" name="AutoShape 113"/>
          <p:cNvSpPr/>
          <p:nvPr/>
        </p:nvSpPr>
        <p:spPr>
          <a:xfrm>
            <a:off x="12564332" y="6083428"/>
            <a:ext cx="726272" cy="830770"/>
          </a:xfrm>
          <a:prstGeom prst="line">
            <a:avLst/>
          </a:prstGeom>
          <a:ln w="19050" cap="rnd">
            <a:solidFill>
              <a:srgbClr val="3F3438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SG"/>
          </a:p>
        </p:txBody>
      </p:sp>
      <p:grpSp>
        <p:nvGrpSpPr>
          <p:cNvPr id="114" name="Group 114"/>
          <p:cNvGrpSpPr/>
          <p:nvPr/>
        </p:nvGrpSpPr>
        <p:grpSpPr>
          <a:xfrm>
            <a:off x="15261327" y="5242750"/>
            <a:ext cx="2575351" cy="3283458"/>
            <a:chOff x="0" y="0"/>
            <a:chExt cx="2860040" cy="3646424"/>
          </a:xfrm>
        </p:grpSpPr>
        <p:sp>
          <p:nvSpPr>
            <p:cNvPr id="115" name="Freeform 115"/>
            <p:cNvSpPr/>
            <p:nvPr/>
          </p:nvSpPr>
          <p:spPr>
            <a:xfrm>
              <a:off x="0" y="0"/>
              <a:ext cx="2860040" cy="3646424"/>
            </a:xfrm>
            <a:custGeom>
              <a:avLst/>
              <a:gdLst/>
              <a:ahLst/>
              <a:cxnLst/>
              <a:rect l="l" t="t" r="r" b="b"/>
              <a:pathLst>
                <a:path w="2860040" h="3646424">
                  <a:moveTo>
                    <a:pt x="0" y="476631"/>
                  </a:moveTo>
                  <a:cubicBezTo>
                    <a:pt x="0" y="213360"/>
                    <a:pt x="213360" y="0"/>
                    <a:pt x="476631" y="0"/>
                  </a:cubicBezTo>
                  <a:lnTo>
                    <a:pt x="2383409" y="0"/>
                  </a:lnTo>
                  <a:cubicBezTo>
                    <a:pt x="2646680" y="0"/>
                    <a:pt x="2860040" y="213360"/>
                    <a:pt x="2860040" y="476631"/>
                  </a:cubicBezTo>
                  <a:lnTo>
                    <a:pt x="2860040" y="3169793"/>
                  </a:lnTo>
                  <a:cubicBezTo>
                    <a:pt x="2860040" y="3433064"/>
                    <a:pt x="2646680" y="3646424"/>
                    <a:pt x="2383409" y="3646424"/>
                  </a:cubicBezTo>
                  <a:lnTo>
                    <a:pt x="476631" y="3646424"/>
                  </a:lnTo>
                  <a:cubicBezTo>
                    <a:pt x="213360" y="3646424"/>
                    <a:pt x="0" y="3433064"/>
                    <a:pt x="0" y="3169793"/>
                  </a:cubicBezTo>
                  <a:close/>
                </a:path>
              </a:pathLst>
            </a:custGeom>
            <a:solidFill>
              <a:srgbClr val="FAEFF3"/>
            </a:solidFill>
            <a:ln w="19050" cap="sq">
              <a:solidFill>
                <a:srgbClr val="E0BCC8"/>
              </a:solidFill>
              <a:prstDash val="solid"/>
              <a:miter/>
            </a:ln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116" name="Group 116"/>
          <p:cNvGrpSpPr/>
          <p:nvPr/>
        </p:nvGrpSpPr>
        <p:grpSpPr>
          <a:xfrm>
            <a:off x="15691752" y="5431536"/>
            <a:ext cx="1714500" cy="405736"/>
            <a:chOff x="0" y="0"/>
            <a:chExt cx="2286000" cy="540982"/>
          </a:xfrm>
        </p:grpSpPr>
        <p:sp>
          <p:nvSpPr>
            <p:cNvPr id="117" name="Freeform 117"/>
            <p:cNvSpPr/>
            <p:nvPr/>
          </p:nvSpPr>
          <p:spPr>
            <a:xfrm>
              <a:off x="0" y="0"/>
              <a:ext cx="2286000" cy="540982"/>
            </a:xfrm>
            <a:custGeom>
              <a:avLst/>
              <a:gdLst/>
              <a:ahLst/>
              <a:cxnLst/>
              <a:rect l="l" t="t" r="r" b="b"/>
              <a:pathLst>
                <a:path w="2286000" h="540982">
                  <a:moveTo>
                    <a:pt x="0" y="0"/>
                  </a:moveTo>
                  <a:lnTo>
                    <a:pt x="2286000" y="0"/>
                  </a:lnTo>
                  <a:lnTo>
                    <a:pt x="2286000" y="540982"/>
                  </a:lnTo>
                  <a:lnTo>
                    <a:pt x="0" y="54098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5009" b="-29664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0" y="0"/>
              <a:ext cx="2286000" cy="54098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59"/>
                </a:lnSpc>
              </a:pPr>
              <a:r>
                <a:rPr lang="en-US" sz="2049" b="1">
                  <a:solidFill>
                    <a:srgbClr val="4B173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WHY?</a:t>
              </a:r>
            </a:p>
          </p:txBody>
        </p:sp>
      </p:grpSp>
      <p:grpSp>
        <p:nvGrpSpPr>
          <p:cNvPr id="119" name="Group 119"/>
          <p:cNvGrpSpPr/>
          <p:nvPr/>
        </p:nvGrpSpPr>
        <p:grpSpPr>
          <a:xfrm>
            <a:off x="15440944" y="5809983"/>
            <a:ext cx="2216116" cy="2574246"/>
            <a:chOff x="0" y="0"/>
            <a:chExt cx="2322576" cy="2697911"/>
          </a:xfrm>
        </p:grpSpPr>
        <p:sp>
          <p:nvSpPr>
            <p:cNvPr id="120" name="Freeform 120"/>
            <p:cNvSpPr/>
            <p:nvPr/>
          </p:nvSpPr>
          <p:spPr>
            <a:xfrm>
              <a:off x="0" y="0"/>
              <a:ext cx="2322576" cy="2697911"/>
            </a:xfrm>
            <a:custGeom>
              <a:avLst/>
              <a:gdLst/>
              <a:ahLst/>
              <a:cxnLst/>
              <a:rect l="l" t="t" r="r" b="b"/>
              <a:pathLst>
                <a:path w="2322576" h="2697911">
                  <a:moveTo>
                    <a:pt x="0" y="0"/>
                  </a:moveTo>
                  <a:lnTo>
                    <a:pt x="2322576" y="0"/>
                  </a:lnTo>
                  <a:lnTo>
                    <a:pt x="2322576" y="2697911"/>
                  </a:lnTo>
                  <a:lnTo>
                    <a:pt x="0" y="269791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3354" r="-83354" b="10522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121" name="TextBox 121"/>
            <p:cNvSpPr txBox="1"/>
            <p:nvPr/>
          </p:nvSpPr>
          <p:spPr>
            <a:xfrm>
              <a:off x="0" y="-9525"/>
              <a:ext cx="2322576" cy="270743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29"/>
                </a:lnSpc>
              </a:pPr>
              <a:r>
                <a:rPr lang="en-US" sz="2024">
                  <a:solidFill>
                    <a:srgbClr val="3F3438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Model-specific normalisation matches each model’s output activation and supports stable training.</a:t>
              </a:r>
            </a:p>
          </p:txBody>
        </p:sp>
      </p:grpSp>
      <p:grpSp>
        <p:nvGrpSpPr>
          <p:cNvPr id="122" name="Group 122"/>
          <p:cNvGrpSpPr/>
          <p:nvPr/>
        </p:nvGrpSpPr>
        <p:grpSpPr>
          <a:xfrm>
            <a:off x="2116455" y="9084183"/>
            <a:ext cx="14077950" cy="677418"/>
            <a:chOff x="0" y="0"/>
            <a:chExt cx="18770600" cy="903224"/>
          </a:xfrm>
        </p:grpSpPr>
        <p:sp>
          <p:nvSpPr>
            <p:cNvPr id="123" name="Freeform 123"/>
            <p:cNvSpPr/>
            <p:nvPr/>
          </p:nvSpPr>
          <p:spPr>
            <a:xfrm>
              <a:off x="0" y="0"/>
              <a:ext cx="18770600" cy="903224"/>
            </a:xfrm>
            <a:custGeom>
              <a:avLst/>
              <a:gdLst/>
              <a:ahLst/>
              <a:cxnLst/>
              <a:rect l="l" t="t" r="r" b="b"/>
              <a:pathLst>
                <a:path w="18770600" h="903224">
                  <a:moveTo>
                    <a:pt x="0" y="150495"/>
                  </a:moveTo>
                  <a:cubicBezTo>
                    <a:pt x="0" y="67437"/>
                    <a:pt x="67437" y="0"/>
                    <a:pt x="150495" y="0"/>
                  </a:cubicBezTo>
                  <a:lnTo>
                    <a:pt x="18620105" y="0"/>
                  </a:lnTo>
                  <a:cubicBezTo>
                    <a:pt x="18703291" y="0"/>
                    <a:pt x="18770600" y="67437"/>
                    <a:pt x="18770600" y="150495"/>
                  </a:cubicBezTo>
                  <a:lnTo>
                    <a:pt x="18770600" y="752729"/>
                  </a:lnTo>
                  <a:cubicBezTo>
                    <a:pt x="18770600" y="835914"/>
                    <a:pt x="18703164" y="903224"/>
                    <a:pt x="18620105" y="903224"/>
                  </a:cubicBezTo>
                  <a:lnTo>
                    <a:pt x="150495" y="903224"/>
                  </a:lnTo>
                  <a:cubicBezTo>
                    <a:pt x="67437" y="903224"/>
                    <a:pt x="0" y="835787"/>
                    <a:pt x="0" y="752729"/>
                  </a:cubicBezTo>
                  <a:close/>
                </a:path>
              </a:pathLst>
            </a:custGeom>
            <a:solidFill>
              <a:srgbClr val="FAEFF3"/>
            </a:solidFill>
            <a:ln w="19050" cap="sq">
              <a:solidFill>
                <a:srgbClr val="E0BCC8"/>
              </a:solidFill>
              <a:prstDash val="solid"/>
              <a:miter/>
            </a:ln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124" name="Group 124"/>
          <p:cNvGrpSpPr/>
          <p:nvPr/>
        </p:nvGrpSpPr>
        <p:grpSpPr>
          <a:xfrm>
            <a:off x="2400300" y="9189720"/>
            <a:ext cx="1028700" cy="430941"/>
            <a:chOff x="0" y="0"/>
            <a:chExt cx="1371600" cy="574588"/>
          </a:xfrm>
        </p:grpSpPr>
        <p:sp>
          <p:nvSpPr>
            <p:cNvPr id="125" name="Freeform 125"/>
            <p:cNvSpPr/>
            <p:nvPr/>
          </p:nvSpPr>
          <p:spPr>
            <a:xfrm>
              <a:off x="0" y="0"/>
              <a:ext cx="1371600" cy="574588"/>
            </a:xfrm>
            <a:custGeom>
              <a:avLst/>
              <a:gdLst/>
              <a:ahLst/>
              <a:cxnLst/>
              <a:rect l="l" t="t" r="r" b="b"/>
              <a:pathLst>
                <a:path w="1371600" h="574588">
                  <a:moveTo>
                    <a:pt x="0" y="0"/>
                  </a:moveTo>
                  <a:lnTo>
                    <a:pt x="1371600" y="0"/>
                  </a:lnTo>
                  <a:lnTo>
                    <a:pt x="1371600" y="574588"/>
                  </a:lnTo>
                  <a:lnTo>
                    <a:pt x="0" y="5745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953" b="8928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126" name="TextBox 126"/>
            <p:cNvSpPr txBox="1"/>
            <p:nvPr/>
          </p:nvSpPr>
          <p:spPr>
            <a:xfrm>
              <a:off x="0" y="0"/>
              <a:ext cx="1371600" cy="5745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10"/>
                </a:lnSpc>
              </a:pPr>
              <a:r>
                <a:rPr lang="en-US" sz="2175" b="1">
                  <a:solidFill>
                    <a:srgbClr val="4B173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GOAL</a:t>
              </a:r>
            </a:p>
          </p:txBody>
        </p:sp>
      </p:grpSp>
      <p:grpSp>
        <p:nvGrpSpPr>
          <p:cNvPr id="127" name="Group 127"/>
          <p:cNvGrpSpPr/>
          <p:nvPr/>
        </p:nvGrpSpPr>
        <p:grpSpPr>
          <a:xfrm>
            <a:off x="3497580" y="9189720"/>
            <a:ext cx="12275820" cy="428725"/>
            <a:chOff x="0" y="0"/>
            <a:chExt cx="16367760" cy="571634"/>
          </a:xfrm>
        </p:grpSpPr>
        <p:sp>
          <p:nvSpPr>
            <p:cNvPr id="128" name="Freeform 128"/>
            <p:cNvSpPr/>
            <p:nvPr/>
          </p:nvSpPr>
          <p:spPr>
            <a:xfrm>
              <a:off x="0" y="0"/>
              <a:ext cx="16367761" cy="571634"/>
            </a:xfrm>
            <a:custGeom>
              <a:avLst/>
              <a:gdLst/>
              <a:ahLst/>
              <a:cxnLst/>
              <a:rect l="l" t="t" r="r" b="b"/>
              <a:pathLst>
                <a:path w="16367761" h="571634">
                  <a:moveTo>
                    <a:pt x="0" y="0"/>
                  </a:moveTo>
                  <a:lnTo>
                    <a:pt x="16367761" y="0"/>
                  </a:lnTo>
                  <a:lnTo>
                    <a:pt x="16367761" y="571634"/>
                  </a:lnTo>
                  <a:lnTo>
                    <a:pt x="0" y="57163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13131" b="-502710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129" name="TextBox 129"/>
            <p:cNvSpPr txBox="1"/>
            <p:nvPr/>
          </p:nvSpPr>
          <p:spPr>
            <a:xfrm>
              <a:off x="0" y="0"/>
              <a:ext cx="16367760" cy="57163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56"/>
                </a:lnSpc>
              </a:pPr>
              <a:r>
                <a:rPr lang="en-US" sz="2130">
                  <a:solidFill>
                    <a:srgbClr val="3F3438"/>
                  </a:solidFill>
                  <a:latin typeface="Canva Sans"/>
                  <a:ea typeface="Canva Sans"/>
                  <a:cs typeface="Canva Sans"/>
                  <a:sym typeface="Canva Sans"/>
                </a:rPr>
                <a:t>Learn the CIFAR-10 image distribution and generate 1,000 new CIFAR-10-like images.</a:t>
              </a:r>
            </a:p>
          </p:txBody>
        </p:sp>
      </p:grpSp>
      <p:sp>
        <p:nvSpPr>
          <p:cNvPr id="130" name="TextBox 130"/>
          <p:cNvSpPr txBox="1"/>
          <p:nvPr/>
        </p:nvSpPr>
        <p:spPr>
          <a:xfrm>
            <a:off x="17442180" y="9774555"/>
            <a:ext cx="1017118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9B7A87"/>
                </a:solidFill>
                <a:latin typeface="Canva Sans"/>
                <a:ea typeface="Canva Sans"/>
                <a:cs typeface="Canva Sans"/>
                <a:sym typeface="Canva Sans"/>
              </a:rPr>
              <a:t>1</a:t>
            </a:r>
          </a:p>
        </p:txBody>
      </p:sp>
      <p:sp>
        <p:nvSpPr>
          <p:cNvPr id="131" name="AutoShape 131"/>
          <p:cNvSpPr/>
          <p:nvPr/>
        </p:nvSpPr>
        <p:spPr>
          <a:xfrm flipH="1">
            <a:off x="10828782" y="6083428"/>
            <a:ext cx="826818" cy="830770"/>
          </a:xfrm>
          <a:prstGeom prst="line">
            <a:avLst/>
          </a:prstGeom>
          <a:ln w="19050" cap="rnd">
            <a:solidFill>
              <a:srgbClr val="3F3438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SG"/>
          </a:p>
        </p:txBody>
      </p:sp>
      <p:grpSp>
        <p:nvGrpSpPr>
          <p:cNvPr id="132" name="Group 132"/>
          <p:cNvGrpSpPr/>
          <p:nvPr/>
        </p:nvGrpSpPr>
        <p:grpSpPr>
          <a:xfrm>
            <a:off x="13782227" y="2101115"/>
            <a:ext cx="4168512" cy="2371825"/>
            <a:chOff x="0" y="0"/>
            <a:chExt cx="5558015" cy="3162434"/>
          </a:xfrm>
        </p:grpSpPr>
        <p:sp>
          <p:nvSpPr>
            <p:cNvPr id="133" name="Freeform 133"/>
            <p:cNvSpPr/>
            <p:nvPr/>
          </p:nvSpPr>
          <p:spPr>
            <a:xfrm>
              <a:off x="0" y="0"/>
              <a:ext cx="5558015" cy="3162434"/>
            </a:xfrm>
            <a:custGeom>
              <a:avLst/>
              <a:gdLst/>
              <a:ahLst/>
              <a:cxnLst/>
              <a:rect l="l" t="t" r="r" b="b"/>
              <a:pathLst>
                <a:path w="5558015" h="3162434">
                  <a:moveTo>
                    <a:pt x="0" y="0"/>
                  </a:moveTo>
                  <a:lnTo>
                    <a:pt x="5558015" y="0"/>
                  </a:lnTo>
                  <a:lnTo>
                    <a:pt x="5558015" y="3162434"/>
                  </a:lnTo>
                  <a:lnTo>
                    <a:pt x="0" y="316243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2736" r="-79325" b="29915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134" name="TextBox 134"/>
            <p:cNvSpPr txBox="1"/>
            <p:nvPr/>
          </p:nvSpPr>
          <p:spPr>
            <a:xfrm>
              <a:off x="0" y="0"/>
              <a:ext cx="5558015" cy="316243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55"/>
                </a:lnSpc>
              </a:pPr>
              <a:r>
                <a:rPr lang="en-US" sz="2129">
                  <a:solidFill>
                    <a:srgbClr val="3F3438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Controlled split:</a:t>
              </a:r>
            </a:p>
            <a:p>
              <a:pPr algn="l">
                <a:lnSpc>
                  <a:spcPts val="2555"/>
                </a:lnSpc>
              </a:pPr>
              <a:r>
                <a:rPr lang="en-US" sz="2129">
                  <a:solidFill>
                    <a:srgbClr val="3F3438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45,000 — Training</a:t>
              </a:r>
            </a:p>
            <a:p>
              <a:pPr algn="l">
                <a:lnSpc>
                  <a:spcPts val="2555"/>
                </a:lnSpc>
              </a:pPr>
              <a:r>
                <a:rPr lang="en-US" sz="2129">
                  <a:solidFill>
                    <a:srgbClr val="3F3438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Model learning</a:t>
              </a:r>
            </a:p>
            <a:p>
              <a:pPr algn="l">
                <a:lnSpc>
                  <a:spcPts val="2555"/>
                </a:lnSpc>
              </a:pPr>
              <a:r>
                <a:rPr lang="en-US" sz="2129">
                  <a:solidFill>
                    <a:srgbClr val="3F3438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5,000 — Validation</a:t>
              </a:r>
            </a:p>
            <a:p>
              <a:pPr algn="l">
                <a:lnSpc>
                  <a:spcPts val="2555"/>
                </a:lnSpc>
              </a:pPr>
              <a:r>
                <a:rPr lang="en-US" sz="2129">
                  <a:solidFill>
                    <a:srgbClr val="3F3438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Model comparison &amp; selection</a:t>
              </a:r>
            </a:p>
            <a:p>
              <a:pPr algn="l">
                <a:lnSpc>
                  <a:spcPts val="2555"/>
                </a:lnSpc>
              </a:pPr>
              <a:r>
                <a:rPr lang="en-US" sz="2129">
                  <a:solidFill>
                    <a:srgbClr val="3F3438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10,000 — Test</a:t>
              </a:r>
            </a:p>
            <a:p>
              <a:pPr algn="l">
                <a:lnSpc>
                  <a:spcPts val="2555"/>
                </a:lnSpc>
              </a:pPr>
              <a:r>
                <a:rPr lang="en-US" sz="2129">
                  <a:solidFill>
                    <a:srgbClr val="3F3438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Final evaluation only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87189" y="501894"/>
            <a:ext cx="17168633" cy="9283212"/>
            <a:chOff x="0" y="0"/>
            <a:chExt cx="4521780" cy="244496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21780" cy="2444961"/>
            </a:xfrm>
            <a:custGeom>
              <a:avLst/>
              <a:gdLst/>
              <a:ahLst/>
              <a:cxnLst/>
              <a:rect l="l" t="t" r="r" b="b"/>
              <a:pathLst>
                <a:path w="4521780" h="2444961">
                  <a:moveTo>
                    <a:pt x="0" y="0"/>
                  </a:moveTo>
                  <a:lnTo>
                    <a:pt x="4521780" y="0"/>
                  </a:lnTo>
                  <a:lnTo>
                    <a:pt x="4521780" y="2444961"/>
                  </a:lnTo>
                  <a:lnTo>
                    <a:pt x="0" y="2444961"/>
                  </a:lnTo>
                  <a:close/>
                </a:path>
              </a:pathLst>
            </a:custGeom>
            <a:ln w="9525" cap="sq">
              <a:solidFill>
                <a:srgbClr val="260317"/>
              </a:solidFill>
              <a:prstDash val="solid"/>
              <a:miter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38100"/>
              <a:ext cx="4521780" cy="24068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56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752222" y="3616948"/>
            <a:ext cx="10982462" cy="2025495"/>
          </a:xfrm>
          <a:custGeom>
            <a:avLst/>
            <a:gdLst/>
            <a:ahLst/>
            <a:cxnLst/>
            <a:rect l="l" t="t" r="r" b="b"/>
            <a:pathLst>
              <a:path w="10982462" h="2025495">
                <a:moveTo>
                  <a:pt x="0" y="0"/>
                </a:moveTo>
                <a:lnTo>
                  <a:pt x="10982462" y="0"/>
                </a:lnTo>
                <a:lnTo>
                  <a:pt x="10982462" y="2025494"/>
                </a:lnTo>
                <a:lnTo>
                  <a:pt x="0" y="20254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76" r="-437" b="-476"/>
            </a:stretch>
          </a:blipFill>
        </p:spPr>
        <p:txBody>
          <a:bodyPr/>
          <a:lstStyle/>
          <a:p>
            <a:endParaRPr lang="en-SG"/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12038695" y="4839213"/>
          <a:ext cx="5444539" cy="4652750"/>
        </p:xfrm>
        <a:graphic>
          <a:graphicData uri="http://schemas.openxmlformats.org/drawingml/2006/table">
            <a:tbl>
              <a:tblPr/>
              <a:tblGrid>
                <a:gridCol w="20484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8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7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16582"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Metric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7F2D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7F2D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Baseline VAE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7F2D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20202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Baseline DCGAN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7F2D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7F2D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9548"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Validation FID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7F2D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236.8284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1">
                          <a:solidFill>
                            <a:srgbClr val="1F2328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96.9811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7F2D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76620"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Average Pairwise MSE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7F2D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7F2D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0.068212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7F2D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0.128495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7F2D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7F2D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Freeform 7"/>
          <p:cNvSpPr/>
          <p:nvPr/>
        </p:nvSpPr>
        <p:spPr>
          <a:xfrm>
            <a:off x="752222" y="1472176"/>
            <a:ext cx="10982462" cy="2125721"/>
          </a:xfrm>
          <a:custGeom>
            <a:avLst/>
            <a:gdLst/>
            <a:ahLst/>
            <a:cxnLst/>
            <a:rect l="l" t="t" r="r" b="b"/>
            <a:pathLst>
              <a:path w="10982462" h="2125721">
                <a:moveTo>
                  <a:pt x="0" y="0"/>
                </a:moveTo>
                <a:lnTo>
                  <a:pt x="10982462" y="0"/>
                </a:lnTo>
                <a:lnTo>
                  <a:pt x="10982462" y="2125722"/>
                </a:lnTo>
                <a:lnTo>
                  <a:pt x="0" y="21257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4310" b="-47904"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8" name="TextBox 8"/>
          <p:cNvSpPr txBox="1"/>
          <p:nvPr/>
        </p:nvSpPr>
        <p:spPr>
          <a:xfrm>
            <a:off x="1154088" y="693201"/>
            <a:ext cx="9207621" cy="604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015"/>
              </a:lnSpc>
            </a:pPr>
            <a:r>
              <a:rPr lang="en-US" sz="3582" b="1">
                <a:solidFill>
                  <a:srgbClr val="4B17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VAE vs DCGAN Baseline Comparison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52222" y="5995019"/>
            <a:ext cx="11413410" cy="3496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 b="1" spc="-2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Findings</a:t>
            </a:r>
          </a:p>
          <a:p>
            <a:pPr algn="l">
              <a:lnSpc>
                <a:spcPts val="2530"/>
              </a:lnSpc>
            </a:pPr>
            <a:endParaRPr lang="en-US" sz="2400" b="1" spc="-26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496571" lvl="1" indent="-248285" algn="l">
              <a:lnSpc>
                <a:spcPts val="2530"/>
              </a:lnSpc>
              <a:buFont typeface="Arial"/>
              <a:buChar char="•"/>
            </a:pPr>
            <a:r>
              <a:rPr lang="en-US" sz="2300" spc="-2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DCGAN reduced FID by 59.05% compared with the baseline VAE.</a:t>
            </a:r>
          </a:p>
          <a:p>
            <a:pPr marL="496571" lvl="1" indent="-248285" algn="l">
              <a:lnSpc>
                <a:spcPts val="2530"/>
              </a:lnSpc>
              <a:buFont typeface="Arial"/>
              <a:buChar char="•"/>
            </a:pPr>
            <a:r>
              <a:rPr lang="en-US" sz="2300" spc="-2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VAE produced smoother but more blurred images.</a:t>
            </a:r>
          </a:p>
          <a:p>
            <a:pPr marL="496571" lvl="1" indent="-248285" algn="l">
              <a:lnSpc>
                <a:spcPts val="2530"/>
              </a:lnSpc>
              <a:buFont typeface="Arial"/>
              <a:buChar char="•"/>
            </a:pPr>
            <a:r>
              <a:rPr lang="en-US" sz="2300" spc="-2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DCGAN produced stronger contrast, clearer structure, and more distinct object-like regions.</a:t>
            </a:r>
          </a:p>
          <a:p>
            <a:pPr marL="496571" lvl="1" indent="-248285" algn="l">
              <a:lnSpc>
                <a:spcPts val="2530"/>
              </a:lnSpc>
              <a:buFont typeface="Arial"/>
              <a:buChar char="•"/>
            </a:pPr>
            <a:r>
              <a:rPr lang="en-US" sz="2300" spc="-2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Its lower FID indicates a closer match to the real CIFAR-10 feature distribution.</a:t>
            </a:r>
          </a:p>
          <a:p>
            <a:pPr algn="l">
              <a:lnSpc>
                <a:spcPts val="2530"/>
              </a:lnSpc>
            </a:pPr>
            <a:endParaRPr lang="en-US" sz="2300" spc="-25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2640"/>
              </a:lnSpc>
            </a:pPr>
            <a:r>
              <a:rPr lang="en-US" sz="2400" b="1" spc="-2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Model Selection Decision</a:t>
            </a:r>
          </a:p>
          <a:p>
            <a:pPr algn="l">
              <a:lnSpc>
                <a:spcPts val="2530"/>
              </a:lnSpc>
            </a:pPr>
            <a:endParaRPr lang="en-US" sz="2400" b="1" spc="-26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2530"/>
              </a:lnSpc>
            </a:pPr>
            <a:r>
              <a:rPr lang="en-US" sz="2300" spc="-2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Baseline DCGAN was selected for systematic improvement.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161063" y="1556200"/>
            <a:ext cx="5199801" cy="3283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499" b="1" spc="-2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Controlled Evaluation</a:t>
            </a:r>
          </a:p>
          <a:p>
            <a:pPr algn="l">
              <a:lnSpc>
                <a:spcPts val="2904"/>
              </a:lnSpc>
            </a:pPr>
            <a:endParaRPr lang="en-US" sz="2499" b="1" spc="-27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518160" lvl="1" indent="-259080" algn="l">
              <a:lnSpc>
                <a:spcPts val="2904"/>
              </a:lnSpc>
              <a:buFont typeface="Arial"/>
              <a:buChar char="•"/>
            </a:pPr>
            <a:r>
              <a:rPr lang="en-US" sz="2400" spc="-2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Same number: 1,000 generated images</a:t>
            </a:r>
          </a:p>
          <a:p>
            <a:pPr marL="518160" lvl="1" indent="-259080" algn="l">
              <a:lnSpc>
                <a:spcPts val="2904"/>
              </a:lnSpc>
              <a:buFont typeface="Arial"/>
              <a:buChar char="•"/>
            </a:pPr>
            <a:r>
              <a:rPr lang="en-US" sz="2400" spc="-2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Same CIFAR-10 reference set</a:t>
            </a:r>
          </a:p>
          <a:p>
            <a:pPr marL="518160" lvl="1" indent="-259080" algn="l">
              <a:lnSpc>
                <a:spcPts val="2904"/>
              </a:lnSpc>
              <a:buFont typeface="Arial"/>
              <a:buChar char="•"/>
            </a:pPr>
            <a:r>
              <a:rPr lang="en-US" sz="2400" spc="-2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Same InceptionV3 feature extractor</a:t>
            </a:r>
          </a:p>
          <a:p>
            <a:pPr marL="518160" lvl="1" indent="-259080" algn="l">
              <a:lnSpc>
                <a:spcPts val="2904"/>
              </a:lnSpc>
              <a:buFont typeface="Arial"/>
              <a:buChar char="•"/>
            </a:pPr>
            <a:r>
              <a:rPr lang="en-US" sz="2400" spc="-2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Same evaluation metrics</a:t>
            </a:r>
          </a:p>
          <a:p>
            <a:pPr algn="l">
              <a:lnSpc>
                <a:spcPts val="2904"/>
              </a:lnSpc>
            </a:pPr>
            <a:endParaRPr lang="en-US" sz="2400" spc="-26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28700" y="3607423"/>
            <a:ext cx="10265807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-194310" algn="l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Learns a smooth latent distribution and reconstructs images from sampled latent vectors.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74818" y="333632"/>
            <a:ext cx="17561814" cy="9559138"/>
            <a:chOff x="0" y="0"/>
            <a:chExt cx="23415752" cy="127455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415752" cy="12745466"/>
            </a:xfrm>
            <a:custGeom>
              <a:avLst/>
              <a:gdLst/>
              <a:ahLst/>
              <a:cxnLst/>
              <a:rect l="l" t="t" r="r" b="b"/>
              <a:pathLst>
                <a:path w="23415752" h="12745466">
                  <a:moveTo>
                    <a:pt x="0" y="0"/>
                  </a:moveTo>
                  <a:lnTo>
                    <a:pt x="23415752" y="0"/>
                  </a:lnTo>
                  <a:lnTo>
                    <a:pt x="23415752" y="12745466"/>
                  </a:lnTo>
                  <a:lnTo>
                    <a:pt x="0" y="1274546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837" r="-19837"/>
              </a:stretch>
            </a:blipFill>
            <a:ln w="19065" cap="sq">
              <a:solidFill>
                <a:srgbClr val="BFAAB5"/>
              </a:solidFill>
              <a:prstDash val="solid"/>
              <a:miter/>
            </a:ln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54971" y="466706"/>
            <a:ext cx="16746607" cy="720318"/>
            <a:chOff x="0" y="0"/>
            <a:chExt cx="22328810" cy="96042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328805" cy="960428"/>
            </a:xfrm>
            <a:custGeom>
              <a:avLst/>
              <a:gdLst/>
              <a:ahLst/>
              <a:cxnLst/>
              <a:rect l="l" t="t" r="r" b="b"/>
              <a:pathLst>
                <a:path w="22328805" h="960428">
                  <a:moveTo>
                    <a:pt x="0" y="0"/>
                  </a:moveTo>
                  <a:lnTo>
                    <a:pt x="22328805" y="0"/>
                  </a:lnTo>
                  <a:lnTo>
                    <a:pt x="22328805" y="960428"/>
                  </a:lnTo>
                  <a:lnTo>
                    <a:pt x="0" y="9604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12985" b="-393022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22328810" cy="9604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23"/>
                </a:lnSpc>
              </a:pPr>
              <a:r>
                <a:rPr lang="en-US" sz="3602" b="1">
                  <a:solidFill>
                    <a:srgbClr val="111111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DCGAN Training &amp; Systematic Improvement Strategy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788832" y="1556976"/>
            <a:ext cx="4837629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2"/>
              </a:lnSpc>
            </a:pPr>
            <a:r>
              <a:rPr lang="en-US" sz="2801" b="1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Core DCGAN Training Setup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754971" y="2223726"/>
            <a:ext cx="5634095" cy="5586779"/>
            <a:chOff x="0" y="0"/>
            <a:chExt cx="7512126" cy="7449038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3891825" cy="923079"/>
              <a:chOff x="0" y="0"/>
              <a:chExt cx="3318091" cy="786999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3318070" cy="787024"/>
              </a:xfrm>
              <a:custGeom>
                <a:avLst/>
                <a:gdLst/>
                <a:ahLst/>
                <a:cxnLst/>
                <a:rect l="l" t="t" r="r" b="b"/>
                <a:pathLst>
                  <a:path w="3318070" h="787024">
                    <a:moveTo>
                      <a:pt x="0" y="0"/>
                    </a:moveTo>
                    <a:lnTo>
                      <a:pt x="3318070" y="0"/>
                    </a:lnTo>
                    <a:lnTo>
                      <a:pt x="3318070" y="787024"/>
                    </a:lnTo>
                    <a:lnTo>
                      <a:pt x="0" y="787024"/>
                    </a:lnTo>
                    <a:close/>
                  </a:path>
                </a:pathLst>
              </a:custGeom>
              <a:solidFill>
                <a:srgbClr val="F5C9CC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0"/>
                <a:ext cx="3318091" cy="78699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09"/>
                  </a:lnSpc>
                </a:pPr>
                <a:r>
                  <a:rPr lang="en-US" sz="2091" b="1">
                    <a:solidFill>
                      <a:srgbClr val="111111"/>
                    </a:solidFill>
                    <a:latin typeface="Canva Sans Bold"/>
                    <a:ea typeface="Canva Sans Bold"/>
                    <a:cs typeface="Canva Sans Bold"/>
                    <a:sym typeface="Canva Sans Bold"/>
                  </a:rPr>
                  <a:t>Setting</a:t>
                </a:r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3891825" y="0"/>
              <a:ext cx="3620301" cy="923079"/>
              <a:chOff x="0" y="0"/>
              <a:chExt cx="3086595" cy="786999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3086659" cy="787024"/>
              </a:xfrm>
              <a:custGeom>
                <a:avLst/>
                <a:gdLst/>
                <a:ahLst/>
                <a:cxnLst/>
                <a:rect l="l" t="t" r="r" b="b"/>
                <a:pathLst>
                  <a:path w="3086659" h="787024">
                    <a:moveTo>
                      <a:pt x="0" y="0"/>
                    </a:moveTo>
                    <a:lnTo>
                      <a:pt x="3086659" y="0"/>
                    </a:lnTo>
                    <a:lnTo>
                      <a:pt x="3086659" y="787024"/>
                    </a:lnTo>
                    <a:lnTo>
                      <a:pt x="0" y="787024"/>
                    </a:lnTo>
                    <a:close/>
                  </a:path>
                </a:pathLst>
              </a:custGeom>
              <a:solidFill>
                <a:srgbClr val="F5C9CC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0"/>
                <a:ext cx="3086595" cy="78699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09"/>
                  </a:lnSpc>
                </a:pPr>
                <a:r>
                  <a:rPr lang="en-US" sz="2091" b="1">
                    <a:solidFill>
                      <a:srgbClr val="111111"/>
                    </a:solidFill>
                    <a:latin typeface="Canva Sans Bold"/>
                    <a:ea typeface="Canva Sans Bold"/>
                    <a:cs typeface="Canva Sans Bold"/>
                    <a:sym typeface="Canva Sans Bold"/>
                  </a:rPr>
                  <a:t>Configuration</a:t>
                </a:r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0" y="923088"/>
              <a:ext cx="3891825" cy="815745"/>
              <a:chOff x="0" y="0"/>
              <a:chExt cx="3318091" cy="695487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3318070" cy="695449"/>
              </a:xfrm>
              <a:custGeom>
                <a:avLst/>
                <a:gdLst/>
                <a:ahLst/>
                <a:cxnLst/>
                <a:rect l="l" t="t" r="r" b="b"/>
                <a:pathLst>
                  <a:path w="3318070" h="695449">
                    <a:moveTo>
                      <a:pt x="0" y="0"/>
                    </a:moveTo>
                    <a:lnTo>
                      <a:pt x="3318070" y="0"/>
                    </a:lnTo>
                    <a:lnTo>
                      <a:pt x="3318070" y="695449"/>
                    </a:lnTo>
                    <a:lnTo>
                      <a:pt x="0" y="695449"/>
                    </a:lnTo>
                    <a:close/>
                  </a:path>
                </a:pathLst>
              </a:custGeom>
              <a:solidFill>
                <a:srgbClr val="FFF8FB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9525"/>
                <a:ext cx="3318091" cy="7050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2347"/>
                  </a:lnSpc>
                </a:pPr>
                <a:r>
                  <a:rPr lang="en-US" sz="1956">
                    <a:solidFill>
                      <a:srgbClr val="111111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Training images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3891825" y="923088"/>
              <a:ext cx="3620301" cy="815745"/>
              <a:chOff x="0" y="0"/>
              <a:chExt cx="3086595" cy="695487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3086659" cy="695449"/>
              </a:xfrm>
              <a:custGeom>
                <a:avLst/>
                <a:gdLst/>
                <a:ahLst/>
                <a:cxnLst/>
                <a:rect l="l" t="t" r="r" b="b"/>
                <a:pathLst>
                  <a:path w="3086659" h="695449">
                    <a:moveTo>
                      <a:pt x="0" y="0"/>
                    </a:moveTo>
                    <a:lnTo>
                      <a:pt x="3086659" y="0"/>
                    </a:lnTo>
                    <a:lnTo>
                      <a:pt x="3086659" y="695449"/>
                    </a:lnTo>
                    <a:lnTo>
                      <a:pt x="0" y="695449"/>
                    </a:lnTo>
                    <a:close/>
                  </a:path>
                </a:pathLst>
              </a:custGeom>
              <a:solidFill>
                <a:srgbClr val="FFF8FB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9525"/>
                <a:ext cx="3086595" cy="7050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401"/>
                  </a:lnSpc>
                </a:pPr>
                <a:r>
                  <a:rPr lang="en-US" sz="2001">
                    <a:solidFill>
                      <a:srgbClr val="111111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45,000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0" y="1738836"/>
              <a:ext cx="3891825" cy="815745"/>
              <a:chOff x="0" y="0"/>
              <a:chExt cx="3318091" cy="695487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3318070" cy="695449"/>
              </a:xfrm>
              <a:custGeom>
                <a:avLst/>
                <a:gdLst/>
                <a:ahLst/>
                <a:cxnLst/>
                <a:rect l="l" t="t" r="r" b="b"/>
                <a:pathLst>
                  <a:path w="3318070" h="695449">
                    <a:moveTo>
                      <a:pt x="0" y="0"/>
                    </a:moveTo>
                    <a:lnTo>
                      <a:pt x="3318070" y="0"/>
                    </a:lnTo>
                    <a:lnTo>
                      <a:pt x="3318070" y="695449"/>
                    </a:lnTo>
                    <a:lnTo>
                      <a:pt x="0" y="695449"/>
                    </a:lnTo>
                    <a:close/>
                  </a:path>
                </a:pathLst>
              </a:custGeom>
              <a:solidFill>
                <a:srgbClr val="FDF0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0" y="-9525"/>
                <a:ext cx="3318091" cy="7050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2347"/>
                  </a:lnSpc>
                </a:pPr>
                <a:r>
                  <a:rPr lang="en-US" sz="1956">
                    <a:solidFill>
                      <a:srgbClr val="111111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Latent dimension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3891825" y="1738836"/>
              <a:ext cx="3620301" cy="815745"/>
              <a:chOff x="0" y="0"/>
              <a:chExt cx="3086595" cy="695487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3086659" cy="695449"/>
              </a:xfrm>
              <a:custGeom>
                <a:avLst/>
                <a:gdLst/>
                <a:ahLst/>
                <a:cxnLst/>
                <a:rect l="l" t="t" r="r" b="b"/>
                <a:pathLst>
                  <a:path w="3086659" h="695449">
                    <a:moveTo>
                      <a:pt x="0" y="0"/>
                    </a:moveTo>
                    <a:lnTo>
                      <a:pt x="3086659" y="0"/>
                    </a:lnTo>
                    <a:lnTo>
                      <a:pt x="3086659" y="695449"/>
                    </a:lnTo>
                    <a:lnTo>
                      <a:pt x="0" y="695449"/>
                    </a:lnTo>
                    <a:close/>
                  </a:path>
                </a:pathLst>
              </a:custGeom>
              <a:solidFill>
                <a:srgbClr val="FDF0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0" y="-9525"/>
                <a:ext cx="3086595" cy="7050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401"/>
                  </a:lnSpc>
                </a:pPr>
                <a:r>
                  <a:rPr lang="en-US" sz="2001" b="1">
                    <a:solidFill>
                      <a:srgbClr val="111111"/>
                    </a:solidFill>
                    <a:latin typeface="Canva Sans Bold"/>
                    <a:ea typeface="Canva Sans Bold"/>
                    <a:cs typeface="Canva Sans Bold"/>
                    <a:sym typeface="Canva Sans Bold"/>
                  </a:rPr>
                  <a:t>128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0" y="2554569"/>
              <a:ext cx="3891825" cy="815745"/>
              <a:chOff x="0" y="0"/>
              <a:chExt cx="3318091" cy="695487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3318070" cy="695449"/>
              </a:xfrm>
              <a:custGeom>
                <a:avLst/>
                <a:gdLst/>
                <a:ahLst/>
                <a:cxnLst/>
                <a:rect l="l" t="t" r="r" b="b"/>
                <a:pathLst>
                  <a:path w="3318070" h="695449">
                    <a:moveTo>
                      <a:pt x="0" y="0"/>
                    </a:moveTo>
                    <a:lnTo>
                      <a:pt x="3318070" y="0"/>
                    </a:lnTo>
                    <a:lnTo>
                      <a:pt x="3318070" y="695449"/>
                    </a:lnTo>
                    <a:lnTo>
                      <a:pt x="0" y="695449"/>
                    </a:lnTo>
                    <a:close/>
                  </a:path>
                </a:pathLst>
              </a:custGeom>
              <a:solidFill>
                <a:srgbClr val="FFF8FB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0" y="-9525"/>
                <a:ext cx="3318091" cy="7050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2347"/>
                  </a:lnSpc>
                </a:pPr>
                <a:r>
                  <a:rPr lang="en-US" sz="1956">
                    <a:solidFill>
                      <a:srgbClr val="111111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Batch size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3891825" y="2554569"/>
              <a:ext cx="3620301" cy="815745"/>
              <a:chOff x="0" y="0"/>
              <a:chExt cx="3086595" cy="695487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3086659" cy="695449"/>
              </a:xfrm>
              <a:custGeom>
                <a:avLst/>
                <a:gdLst/>
                <a:ahLst/>
                <a:cxnLst/>
                <a:rect l="l" t="t" r="r" b="b"/>
                <a:pathLst>
                  <a:path w="3086659" h="695449">
                    <a:moveTo>
                      <a:pt x="0" y="0"/>
                    </a:moveTo>
                    <a:lnTo>
                      <a:pt x="3086659" y="0"/>
                    </a:lnTo>
                    <a:lnTo>
                      <a:pt x="3086659" y="695449"/>
                    </a:lnTo>
                    <a:lnTo>
                      <a:pt x="0" y="695449"/>
                    </a:lnTo>
                    <a:close/>
                  </a:path>
                </a:pathLst>
              </a:custGeom>
              <a:solidFill>
                <a:srgbClr val="FFF8FB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0" y="-9525"/>
                <a:ext cx="3086595" cy="7050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401"/>
                  </a:lnSpc>
                </a:pPr>
                <a:r>
                  <a:rPr lang="en-US" sz="2001" b="1">
                    <a:solidFill>
                      <a:srgbClr val="111111"/>
                    </a:solidFill>
                    <a:latin typeface="Canva Sans Bold"/>
                    <a:ea typeface="Canva Sans Bold"/>
                    <a:cs typeface="Canva Sans Bold"/>
                    <a:sym typeface="Canva Sans Bold"/>
                  </a:rPr>
                  <a:t>128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0" y="3370317"/>
              <a:ext cx="3891825" cy="815745"/>
              <a:chOff x="0" y="0"/>
              <a:chExt cx="3318091" cy="695487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3318070" cy="695449"/>
              </a:xfrm>
              <a:custGeom>
                <a:avLst/>
                <a:gdLst/>
                <a:ahLst/>
                <a:cxnLst/>
                <a:rect l="l" t="t" r="r" b="b"/>
                <a:pathLst>
                  <a:path w="3318070" h="695449">
                    <a:moveTo>
                      <a:pt x="0" y="0"/>
                    </a:moveTo>
                    <a:lnTo>
                      <a:pt x="3318070" y="0"/>
                    </a:lnTo>
                    <a:lnTo>
                      <a:pt x="3318070" y="695449"/>
                    </a:lnTo>
                    <a:lnTo>
                      <a:pt x="0" y="695449"/>
                    </a:lnTo>
                    <a:close/>
                  </a:path>
                </a:pathLst>
              </a:custGeom>
              <a:solidFill>
                <a:srgbClr val="FDF0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0" y="-9525"/>
                <a:ext cx="3318091" cy="7050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2347"/>
                  </a:lnSpc>
                </a:pPr>
                <a:r>
                  <a:rPr lang="en-US" sz="1956">
                    <a:solidFill>
                      <a:srgbClr val="111111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Baseline epochs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3891825" y="3370317"/>
              <a:ext cx="3620301" cy="815745"/>
              <a:chOff x="0" y="0"/>
              <a:chExt cx="3086595" cy="695487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3086659" cy="695449"/>
              </a:xfrm>
              <a:custGeom>
                <a:avLst/>
                <a:gdLst/>
                <a:ahLst/>
                <a:cxnLst/>
                <a:rect l="l" t="t" r="r" b="b"/>
                <a:pathLst>
                  <a:path w="3086659" h="695449">
                    <a:moveTo>
                      <a:pt x="0" y="0"/>
                    </a:moveTo>
                    <a:lnTo>
                      <a:pt x="3086659" y="0"/>
                    </a:lnTo>
                    <a:lnTo>
                      <a:pt x="3086659" y="695449"/>
                    </a:lnTo>
                    <a:lnTo>
                      <a:pt x="0" y="695449"/>
                    </a:lnTo>
                    <a:close/>
                  </a:path>
                </a:pathLst>
              </a:custGeom>
              <a:solidFill>
                <a:srgbClr val="FDF0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0" y="-9525"/>
                <a:ext cx="3086595" cy="7050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401"/>
                  </a:lnSpc>
                </a:pPr>
                <a:r>
                  <a:rPr lang="en-US" sz="2001" b="1">
                    <a:solidFill>
                      <a:srgbClr val="111111"/>
                    </a:solidFill>
                    <a:latin typeface="Canva Sans Bold"/>
                    <a:ea typeface="Canva Sans Bold"/>
                    <a:cs typeface="Canva Sans Bold"/>
                    <a:sym typeface="Canva Sans Bold"/>
                  </a:rPr>
                  <a:t>50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0" y="4186065"/>
              <a:ext cx="3891825" cy="815745"/>
              <a:chOff x="0" y="0"/>
              <a:chExt cx="3318091" cy="695487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3318070" cy="695449"/>
              </a:xfrm>
              <a:custGeom>
                <a:avLst/>
                <a:gdLst/>
                <a:ahLst/>
                <a:cxnLst/>
                <a:rect l="l" t="t" r="r" b="b"/>
                <a:pathLst>
                  <a:path w="3318070" h="695449">
                    <a:moveTo>
                      <a:pt x="0" y="0"/>
                    </a:moveTo>
                    <a:lnTo>
                      <a:pt x="3318070" y="0"/>
                    </a:lnTo>
                    <a:lnTo>
                      <a:pt x="3318070" y="695449"/>
                    </a:lnTo>
                    <a:lnTo>
                      <a:pt x="0" y="695449"/>
                    </a:lnTo>
                    <a:close/>
                  </a:path>
                </a:pathLst>
              </a:custGeom>
              <a:solidFill>
                <a:srgbClr val="FFF8FB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0" y="-9525"/>
                <a:ext cx="3318091" cy="7050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2347"/>
                  </a:lnSpc>
                </a:pPr>
                <a:r>
                  <a:rPr lang="en-US" sz="1956">
                    <a:solidFill>
                      <a:srgbClr val="111111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Optimiser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3891825" y="4186065"/>
              <a:ext cx="3620301" cy="815745"/>
              <a:chOff x="0" y="0"/>
              <a:chExt cx="3086595" cy="695487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3086659" cy="695449"/>
              </a:xfrm>
              <a:custGeom>
                <a:avLst/>
                <a:gdLst/>
                <a:ahLst/>
                <a:cxnLst/>
                <a:rect l="l" t="t" r="r" b="b"/>
                <a:pathLst>
                  <a:path w="3086659" h="695449">
                    <a:moveTo>
                      <a:pt x="0" y="0"/>
                    </a:moveTo>
                    <a:lnTo>
                      <a:pt x="3086659" y="0"/>
                    </a:lnTo>
                    <a:lnTo>
                      <a:pt x="3086659" y="695449"/>
                    </a:lnTo>
                    <a:lnTo>
                      <a:pt x="0" y="695449"/>
                    </a:lnTo>
                    <a:close/>
                  </a:path>
                </a:pathLst>
              </a:custGeom>
              <a:solidFill>
                <a:srgbClr val="FFF8FB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0" y="-9525"/>
                <a:ext cx="3086595" cy="7050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401"/>
                  </a:lnSpc>
                </a:pPr>
                <a:r>
                  <a:rPr lang="en-US" sz="2001">
                    <a:solidFill>
                      <a:srgbClr val="111111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Adam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0" y="5001813"/>
              <a:ext cx="3891825" cy="815745"/>
              <a:chOff x="0" y="0"/>
              <a:chExt cx="3318091" cy="695487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3318070" cy="695449"/>
              </a:xfrm>
              <a:custGeom>
                <a:avLst/>
                <a:gdLst/>
                <a:ahLst/>
                <a:cxnLst/>
                <a:rect l="l" t="t" r="r" b="b"/>
                <a:pathLst>
                  <a:path w="3318070" h="695449">
                    <a:moveTo>
                      <a:pt x="0" y="0"/>
                    </a:moveTo>
                    <a:lnTo>
                      <a:pt x="3318070" y="0"/>
                    </a:lnTo>
                    <a:lnTo>
                      <a:pt x="3318070" y="695449"/>
                    </a:lnTo>
                    <a:lnTo>
                      <a:pt x="0" y="695449"/>
                    </a:lnTo>
                    <a:close/>
                  </a:path>
                </a:pathLst>
              </a:custGeom>
              <a:solidFill>
                <a:srgbClr val="FDF0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0" y="-9525"/>
                <a:ext cx="3318091" cy="7050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2347"/>
                  </a:lnSpc>
                </a:pPr>
                <a:r>
                  <a:rPr lang="en-US" sz="1956">
                    <a:solidFill>
                      <a:srgbClr val="111111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Learning rate</a:t>
                </a: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3891825" y="5001813"/>
              <a:ext cx="3620301" cy="815745"/>
              <a:chOff x="0" y="0"/>
              <a:chExt cx="3086595" cy="695487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3086659" cy="695449"/>
              </a:xfrm>
              <a:custGeom>
                <a:avLst/>
                <a:gdLst/>
                <a:ahLst/>
                <a:cxnLst/>
                <a:rect l="l" t="t" r="r" b="b"/>
                <a:pathLst>
                  <a:path w="3086659" h="695449">
                    <a:moveTo>
                      <a:pt x="0" y="0"/>
                    </a:moveTo>
                    <a:lnTo>
                      <a:pt x="3086659" y="0"/>
                    </a:lnTo>
                    <a:lnTo>
                      <a:pt x="3086659" y="695449"/>
                    </a:lnTo>
                    <a:lnTo>
                      <a:pt x="0" y="695449"/>
                    </a:lnTo>
                    <a:close/>
                  </a:path>
                </a:pathLst>
              </a:custGeom>
              <a:solidFill>
                <a:srgbClr val="FDF0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0" y="-9525"/>
                <a:ext cx="3086595" cy="7050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401"/>
                  </a:lnSpc>
                </a:pPr>
                <a:r>
                  <a:rPr lang="en-US" sz="2001">
                    <a:solidFill>
                      <a:srgbClr val="111111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0.0002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0" y="5817561"/>
              <a:ext cx="3891825" cy="815745"/>
              <a:chOff x="0" y="0"/>
              <a:chExt cx="3318091" cy="695487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0" y="0"/>
                <a:ext cx="3318070" cy="695449"/>
              </a:xfrm>
              <a:custGeom>
                <a:avLst/>
                <a:gdLst/>
                <a:ahLst/>
                <a:cxnLst/>
                <a:rect l="l" t="t" r="r" b="b"/>
                <a:pathLst>
                  <a:path w="3318070" h="695449">
                    <a:moveTo>
                      <a:pt x="0" y="0"/>
                    </a:moveTo>
                    <a:lnTo>
                      <a:pt x="3318070" y="0"/>
                    </a:lnTo>
                    <a:lnTo>
                      <a:pt x="3318070" y="695449"/>
                    </a:lnTo>
                    <a:lnTo>
                      <a:pt x="0" y="695449"/>
                    </a:lnTo>
                    <a:close/>
                  </a:path>
                </a:pathLst>
              </a:custGeom>
              <a:solidFill>
                <a:srgbClr val="FFF8FB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0" y="-9525"/>
                <a:ext cx="3318091" cy="7050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2347"/>
                  </a:lnSpc>
                </a:pPr>
                <a:r>
                  <a:rPr lang="en-US" sz="1956">
                    <a:solidFill>
                      <a:srgbClr val="111111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Adam β₁ / β₂</a:t>
                </a: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3891825" y="5817561"/>
              <a:ext cx="3620301" cy="815745"/>
              <a:chOff x="0" y="0"/>
              <a:chExt cx="3086595" cy="695487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0" y="0"/>
                <a:ext cx="3086659" cy="695449"/>
              </a:xfrm>
              <a:custGeom>
                <a:avLst/>
                <a:gdLst/>
                <a:ahLst/>
                <a:cxnLst/>
                <a:rect l="l" t="t" r="r" b="b"/>
                <a:pathLst>
                  <a:path w="3086659" h="695449">
                    <a:moveTo>
                      <a:pt x="0" y="0"/>
                    </a:moveTo>
                    <a:lnTo>
                      <a:pt x="3086659" y="0"/>
                    </a:lnTo>
                    <a:lnTo>
                      <a:pt x="3086659" y="695449"/>
                    </a:lnTo>
                    <a:lnTo>
                      <a:pt x="0" y="695449"/>
                    </a:lnTo>
                    <a:close/>
                  </a:path>
                </a:pathLst>
              </a:custGeom>
              <a:solidFill>
                <a:srgbClr val="FFF8FB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0" y="-9525"/>
                <a:ext cx="3086595" cy="7050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401"/>
                  </a:lnSpc>
                </a:pPr>
                <a:r>
                  <a:rPr lang="en-US" sz="2001">
                    <a:solidFill>
                      <a:srgbClr val="111111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0.5 / 0.999</a:t>
                </a: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0" y="6633294"/>
              <a:ext cx="3891825" cy="815745"/>
              <a:chOff x="0" y="0"/>
              <a:chExt cx="3318091" cy="695487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0" y="0"/>
                <a:ext cx="3318070" cy="695449"/>
              </a:xfrm>
              <a:custGeom>
                <a:avLst/>
                <a:gdLst/>
                <a:ahLst/>
                <a:cxnLst/>
                <a:rect l="l" t="t" r="r" b="b"/>
                <a:pathLst>
                  <a:path w="3318070" h="695449">
                    <a:moveTo>
                      <a:pt x="0" y="0"/>
                    </a:moveTo>
                    <a:lnTo>
                      <a:pt x="3318070" y="0"/>
                    </a:lnTo>
                    <a:lnTo>
                      <a:pt x="3318070" y="695449"/>
                    </a:lnTo>
                    <a:lnTo>
                      <a:pt x="0" y="695449"/>
                    </a:lnTo>
                    <a:close/>
                  </a:path>
                </a:pathLst>
              </a:custGeom>
              <a:solidFill>
                <a:srgbClr val="FDF0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0" y="-9525"/>
                <a:ext cx="3318091" cy="7050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2347"/>
                  </a:lnSpc>
                </a:pPr>
                <a:r>
                  <a:rPr lang="en-US" sz="1956">
                    <a:solidFill>
                      <a:srgbClr val="111111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Augmentation</a:t>
                </a:r>
              </a:p>
            </p:txBody>
          </p:sp>
        </p:grpSp>
        <p:grpSp>
          <p:nvGrpSpPr>
            <p:cNvPr id="60" name="Group 60"/>
            <p:cNvGrpSpPr/>
            <p:nvPr/>
          </p:nvGrpSpPr>
          <p:grpSpPr>
            <a:xfrm>
              <a:off x="3891825" y="6633294"/>
              <a:ext cx="3620301" cy="815745"/>
              <a:chOff x="0" y="0"/>
              <a:chExt cx="3086595" cy="695487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0" y="0"/>
                <a:ext cx="3086659" cy="695449"/>
              </a:xfrm>
              <a:custGeom>
                <a:avLst/>
                <a:gdLst/>
                <a:ahLst/>
                <a:cxnLst/>
                <a:rect l="l" t="t" r="r" b="b"/>
                <a:pathLst>
                  <a:path w="3086659" h="695449">
                    <a:moveTo>
                      <a:pt x="0" y="0"/>
                    </a:moveTo>
                    <a:lnTo>
                      <a:pt x="3086659" y="0"/>
                    </a:lnTo>
                    <a:lnTo>
                      <a:pt x="3086659" y="695449"/>
                    </a:lnTo>
                    <a:lnTo>
                      <a:pt x="0" y="695449"/>
                    </a:lnTo>
                    <a:close/>
                  </a:path>
                </a:pathLst>
              </a:custGeom>
              <a:solidFill>
                <a:srgbClr val="FDF0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0" y="-9525"/>
                <a:ext cx="3086595" cy="7050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401"/>
                  </a:lnSpc>
                </a:pPr>
                <a:r>
                  <a:rPr lang="en-US" sz="2001" b="1">
                    <a:solidFill>
                      <a:srgbClr val="111111"/>
                    </a:solidFill>
                    <a:latin typeface="Canva Sans Bold"/>
                    <a:ea typeface="Canva Sans Bold"/>
                    <a:cs typeface="Canva Sans Bold"/>
                    <a:sym typeface="Canva Sans Bold"/>
                  </a:rPr>
                  <a:t>None</a:t>
                </a:r>
              </a:p>
            </p:txBody>
          </p:sp>
        </p:grpSp>
      </p:grpSp>
      <p:grpSp>
        <p:nvGrpSpPr>
          <p:cNvPr id="63" name="Group 63"/>
          <p:cNvGrpSpPr/>
          <p:nvPr/>
        </p:nvGrpSpPr>
        <p:grpSpPr>
          <a:xfrm>
            <a:off x="6602886" y="2214201"/>
            <a:ext cx="4925364" cy="5575606"/>
            <a:chOff x="0" y="0"/>
            <a:chExt cx="6567152" cy="7434142"/>
          </a:xfrm>
        </p:grpSpPr>
        <p:grpSp>
          <p:nvGrpSpPr>
            <p:cNvPr id="64" name="Group 64"/>
            <p:cNvGrpSpPr/>
            <p:nvPr/>
          </p:nvGrpSpPr>
          <p:grpSpPr>
            <a:xfrm>
              <a:off x="0" y="0"/>
              <a:ext cx="6567152" cy="7434142"/>
              <a:chOff x="0" y="0"/>
              <a:chExt cx="5807239" cy="6573906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0" y="0"/>
                <a:ext cx="5807226" cy="6573893"/>
              </a:xfrm>
              <a:custGeom>
                <a:avLst/>
                <a:gdLst/>
                <a:ahLst/>
                <a:cxnLst/>
                <a:rect l="l" t="t" r="r" b="b"/>
                <a:pathLst>
                  <a:path w="5807226" h="6573893">
                    <a:moveTo>
                      <a:pt x="0" y="228090"/>
                    </a:moveTo>
                    <a:cubicBezTo>
                      <a:pt x="0" y="102161"/>
                      <a:pt x="100680" y="0"/>
                      <a:pt x="224783" y="0"/>
                    </a:cubicBezTo>
                    <a:lnTo>
                      <a:pt x="5582443" y="0"/>
                    </a:lnTo>
                    <a:cubicBezTo>
                      <a:pt x="5706546" y="0"/>
                      <a:pt x="5807226" y="102161"/>
                      <a:pt x="5807226" y="228090"/>
                    </a:cubicBezTo>
                    <a:lnTo>
                      <a:pt x="5807226" y="6345803"/>
                    </a:lnTo>
                    <a:cubicBezTo>
                      <a:pt x="5807226" y="6471732"/>
                      <a:pt x="5706546" y="6573893"/>
                      <a:pt x="5582443" y="6573893"/>
                    </a:cubicBezTo>
                    <a:lnTo>
                      <a:pt x="224783" y="6573893"/>
                    </a:lnTo>
                    <a:cubicBezTo>
                      <a:pt x="100680" y="6573893"/>
                      <a:pt x="0" y="6471732"/>
                      <a:pt x="0" y="6345803"/>
                    </a:cubicBez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-91403" r="-89541" b="3283"/>
                </a:stretch>
              </a:blipFill>
              <a:ln w="19065" cap="sq">
                <a:solidFill>
                  <a:srgbClr val="D9B8C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SG"/>
              </a:p>
            </p:txBody>
          </p:sp>
        </p:grpSp>
        <p:sp>
          <p:nvSpPr>
            <p:cNvPr id="66" name="TextBox 66"/>
            <p:cNvSpPr txBox="1"/>
            <p:nvPr/>
          </p:nvSpPr>
          <p:spPr>
            <a:xfrm>
              <a:off x="171919" y="43652"/>
              <a:ext cx="6395233" cy="72180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00"/>
                </a:lnSpc>
              </a:pPr>
              <a:r>
                <a:rPr lang="en-US" sz="2600" b="1" spc="-57">
                  <a:solidFill>
                    <a:srgbClr val="111111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Training Control</a:t>
              </a:r>
            </a:p>
            <a:p>
              <a:pPr algn="l">
                <a:lnSpc>
                  <a:spcPts val="3900"/>
                </a:lnSpc>
              </a:pPr>
              <a:r>
                <a:rPr lang="en-US" sz="2600" spc="-57">
                  <a:solidFill>
                    <a:srgbClr val="111111"/>
                  </a:solidFill>
                  <a:latin typeface="Canva Sans"/>
                  <a:ea typeface="Canva Sans"/>
                  <a:cs typeface="Canva Sans"/>
                  <a:sym typeface="Canva Sans"/>
                </a:rPr>
                <a:t>• Images normalised to [-1, 1]</a:t>
              </a:r>
            </a:p>
            <a:p>
              <a:pPr algn="l">
                <a:lnSpc>
                  <a:spcPts val="3900"/>
                </a:lnSpc>
              </a:pPr>
              <a:r>
                <a:rPr lang="en-US" sz="2600" spc="-57">
                  <a:solidFill>
                    <a:srgbClr val="111111"/>
                  </a:solidFill>
                  <a:latin typeface="Canva Sans"/>
                  <a:ea typeface="Canva Sans"/>
                  <a:cs typeface="Canva Sans"/>
                  <a:sym typeface="Canva Sans"/>
                </a:rPr>
                <a:t>• Data pipeline: Shuffle → Batch → Prefetch</a:t>
              </a:r>
            </a:p>
            <a:p>
              <a:pPr algn="l">
                <a:lnSpc>
                  <a:spcPts val="3900"/>
                </a:lnSpc>
              </a:pPr>
              <a:r>
                <a:rPr lang="en-US" sz="2600" spc="-57">
                  <a:solidFill>
                    <a:srgbClr val="111111"/>
                  </a:solidFill>
                  <a:latin typeface="Canva Sans"/>
                  <a:ea typeface="Canva Sans"/>
                  <a:cs typeface="Canva Sans"/>
                  <a:sym typeface="Canva Sans"/>
                </a:rPr>
                <a:t>• 1 discriminator update : 1 generator update</a:t>
              </a:r>
            </a:p>
            <a:p>
              <a:pPr algn="l">
                <a:lnSpc>
                  <a:spcPts val="3900"/>
                </a:lnSpc>
              </a:pPr>
              <a:r>
                <a:rPr lang="en-US" sz="2600" spc="-57">
                  <a:solidFill>
                    <a:srgbClr val="111111"/>
                  </a:solidFill>
                  <a:latin typeface="Canva Sans"/>
                  <a:ea typeface="Canva Sans"/>
                  <a:cs typeface="Canva Sans"/>
                  <a:sym typeface="Canva Sans"/>
                </a:rPr>
                <a:t>• Fixed latent noise for consistent visual monitoring</a:t>
              </a:r>
            </a:p>
            <a:p>
              <a:pPr algn="l">
                <a:lnSpc>
                  <a:spcPts val="3900"/>
                </a:lnSpc>
              </a:pPr>
              <a:r>
                <a:rPr lang="en-US" sz="2600" spc="-57">
                  <a:solidFill>
                    <a:srgbClr val="111111"/>
                  </a:solidFill>
                  <a:latin typeface="Canva Sans"/>
                  <a:ea typeface="Canva Sans"/>
                  <a:cs typeface="Canva Sans"/>
                  <a:sym typeface="Canva Sans"/>
                </a:rPr>
                <a:t>• Candidate checkpoints evaluated with FID + diversity + visual inspection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11726818" y="5017115"/>
            <a:ext cx="6057484" cy="1198078"/>
            <a:chOff x="0" y="0"/>
            <a:chExt cx="7346340" cy="1452994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7346314" cy="1453007"/>
            </a:xfrm>
            <a:custGeom>
              <a:avLst/>
              <a:gdLst/>
              <a:ahLst/>
              <a:cxnLst/>
              <a:rect l="l" t="t" r="r" b="b"/>
              <a:pathLst>
                <a:path w="7346314" h="1453007">
                  <a:moveTo>
                    <a:pt x="0" y="223520"/>
                  </a:moveTo>
                  <a:cubicBezTo>
                    <a:pt x="0" y="100076"/>
                    <a:pt x="100076" y="0"/>
                    <a:pt x="223520" y="0"/>
                  </a:cubicBezTo>
                  <a:lnTo>
                    <a:pt x="7122795" y="0"/>
                  </a:lnTo>
                  <a:cubicBezTo>
                    <a:pt x="7246238" y="0"/>
                    <a:pt x="7346314" y="100076"/>
                    <a:pt x="7346314" y="223520"/>
                  </a:cubicBezTo>
                  <a:lnTo>
                    <a:pt x="7346314" y="1229487"/>
                  </a:lnTo>
                  <a:cubicBezTo>
                    <a:pt x="7346314" y="1352931"/>
                    <a:pt x="7246238" y="1453007"/>
                    <a:pt x="7122795" y="1453007"/>
                  </a:cubicBezTo>
                  <a:lnTo>
                    <a:pt x="223520" y="1453007"/>
                  </a:lnTo>
                  <a:cubicBezTo>
                    <a:pt x="100076" y="1453007"/>
                    <a:pt x="0" y="1352931"/>
                    <a:pt x="0" y="1229487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8515" b="-48515"/>
              </a:stretch>
            </a:blipFill>
            <a:ln w="19050" cap="sq">
              <a:solidFill>
                <a:srgbClr val="D9B8C9"/>
              </a:solidFill>
              <a:prstDash val="solid"/>
              <a:miter/>
            </a:ln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11726818" y="1464802"/>
            <a:ext cx="6237820" cy="6165184"/>
            <a:chOff x="0" y="0"/>
            <a:chExt cx="8317093" cy="8220246"/>
          </a:xfrm>
        </p:grpSpPr>
        <p:grpSp>
          <p:nvGrpSpPr>
            <p:cNvPr id="70" name="Group 70"/>
            <p:cNvGrpSpPr/>
            <p:nvPr/>
          </p:nvGrpSpPr>
          <p:grpSpPr>
            <a:xfrm>
              <a:off x="0" y="1189938"/>
              <a:ext cx="8076645" cy="1597437"/>
              <a:chOff x="0" y="0"/>
              <a:chExt cx="7346340" cy="1452994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0" y="0"/>
                <a:ext cx="7346314" cy="1453007"/>
              </a:xfrm>
              <a:custGeom>
                <a:avLst/>
                <a:gdLst/>
                <a:ahLst/>
                <a:cxnLst/>
                <a:rect l="l" t="t" r="r" b="b"/>
                <a:pathLst>
                  <a:path w="7346314" h="1453007">
                    <a:moveTo>
                      <a:pt x="0" y="223520"/>
                    </a:moveTo>
                    <a:cubicBezTo>
                      <a:pt x="0" y="100076"/>
                      <a:pt x="100076" y="0"/>
                      <a:pt x="223520" y="0"/>
                    </a:cubicBezTo>
                    <a:lnTo>
                      <a:pt x="7122795" y="0"/>
                    </a:lnTo>
                    <a:cubicBezTo>
                      <a:pt x="7246238" y="0"/>
                      <a:pt x="7346314" y="100076"/>
                      <a:pt x="7346314" y="223520"/>
                    </a:cubicBezTo>
                    <a:lnTo>
                      <a:pt x="7346314" y="1229487"/>
                    </a:lnTo>
                    <a:cubicBezTo>
                      <a:pt x="7346314" y="1352931"/>
                      <a:pt x="7246238" y="1453007"/>
                      <a:pt x="7122795" y="1453007"/>
                    </a:cubicBezTo>
                    <a:lnTo>
                      <a:pt x="223520" y="1453007"/>
                    </a:lnTo>
                    <a:cubicBezTo>
                      <a:pt x="100076" y="1453007"/>
                      <a:pt x="0" y="1352931"/>
                      <a:pt x="0" y="1229487"/>
                    </a:cubicBez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48515" b="-48515"/>
                </a:stretch>
              </a:blipFill>
              <a:ln w="19065" cap="sq">
                <a:solidFill>
                  <a:srgbClr val="D9B8C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SG"/>
              </a:p>
            </p:txBody>
          </p:sp>
        </p:grpSp>
        <p:grpSp>
          <p:nvGrpSpPr>
            <p:cNvPr id="72" name="Group 72"/>
            <p:cNvGrpSpPr/>
            <p:nvPr/>
          </p:nvGrpSpPr>
          <p:grpSpPr>
            <a:xfrm>
              <a:off x="296550" y="1466224"/>
              <a:ext cx="917101" cy="917101"/>
              <a:chOff x="0" y="0"/>
              <a:chExt cx="849020" cy="849020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0" y="0"/>
                <a:ext cx="848995" cy="848995"/>
              </a:xfrm>
              <a:custGeom>
                <a:avLst/>
                <a:gdLst/>
                <a:ahLst/>
                <a:cxnLst/>
                <a:rect l="l" t="t" r="r" b="b"/>
                <a:pathLst>
                  <a:path w="848995" h="848995">
                    <a:moveTo>
                      <a:pt x="0" y="424561"/>
                    </a:moveTo>
                    <a:cubicBezTo>
                      <a:pt x="0" y="190119"/>
                      <a:pt x="190119" y="0"/>
                      <a:pt x="424561" y="0"/>
                    </a:cubicBezTo>
                    <a:cubicBezTo>
                      <a:pt x="659003" y="0"/>
                      <a:pt x="848995" y="190119"/>
                      <a:pt x="848995" y="424561"/>
                    </a:cubicBezTo>
                    <a:cubicBezTo>
                      <a:pt x="848995" y="659003"/>
                      <a:pt x="659003" y="848995"/>
                      <a:pt x="424561" y="848995"/>
                    </a:cubicBezTo>
                    <a:cubicBezTo>
                      <a:pt x="190119" y="848995"/>
                      <a:pt x="0" y="659003"/>
                      <a:pt x="0" y="424561"/>
                    </a:cubicBezTo>
                    <a:close/>
                  </a:path>
                </a:pathLst>
              </a:custGeom>
              <a:solidFill>
                <a:srgbClr val="F8DDE9"/>
              </a:solidFill>
              <a:ln w="19065" cap="sq">
                <a:solidFill>
                  <a:srgbClr val="D9B8C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SG"/>
              </a:p>
            </p:txBody>
          </p:sp>
        </p:grpSp>
        <p:sp>
          <p:nvSpPr>
            <p:cNvPr id="74" name="TextBox 74"/>
            <p:cNvSpPr txBox="1"/>
            <p:nvPr/>
          </p:nvSpPr>
          <p:spPr>
            <a:xfrm>
              <a:off x="683943" y="1723192"/>
              <a:ext cx="173671" cy="3936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35"/>
                </a:lnSpc>
              </a:pPr>
              <a:r>
                <a:rPr lang="en-US" sz="1945" b="1">
                  <a:solidFill>
                    <a:srgbClr val="9B3B7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849934" y="1400132"/>
              <a:ext cx="4356179" cy="457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56"/>
                </a:lnSpc>
              </a:pPr>
              <a:r>
                <a:rPr lang="en-US" sz="2297" b="1">
                  <a:solidFill>
                    <a:srgbClr val="2B0318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Class Conditioning</a:t>
              </a:r>
            </a:p>
          </p:txBody>
        </p:sp>
        <p:grpSp>
          <p:nvGrpSpPr>
            <p:cNvPr id="76" name="Group 76"/>
            <p:cNvGrpSpPr/>
            <p:nvPr/>
          </p:nvGrpSpPr>
          <p:grpSpPr>
            <a:xfrm>
              <a:off x="0" y="3000890"/>
              <a:ext cx="8076645" cy="1597437"/>
              <a:chOff x="0" y="0"/>
              <a:chExt cx="7346340" cy="1452994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0" y="0"/>
                <a:ext cx="7346314" cy="1453007"/>
              </a:xfrm>
              <a:custGeom>
                <a:avLst/>
                <a:gdLst/>
                <a:ahLst/>
                <a:cxnLst/>
                <a:rect l="l" t="t" r="r" b="b"/>
                <a:pathLst>
                  <a:path w="7346314" h="1453007">
                    <a:moveTo>
                      <a:pt x="0" y="223520"/>
                    </a:moveTo>
                    <a:cubicBezTo>
                      <a:pt x="0" y="100076"/>
                      <a:pt x="100076" y="0"/>
                      <a:pt x="223520" y="0"/>
                    </a:cubicBezTo>
                    <a:lnTo>
                      <a:pt x="7122795" y="0"/>
                    </a:lnTo>
                    <a:cubicBezTo>
                      <a:pt x="7246238" y="0"/>
                      <a:pt x="7346314" y="100076"/>
                      <a:pt x="7346314" y="223520"/>
                    </a:cubicBezTo>
                    <a:lnTo>
                      <a:pt x="7346314" y="1229487"/>
                    </a:lnTo>
                    <a:cubicBezTo>
                      <a:pt x="7346314" y="1352931"/>
                      <a:pt x="7246238" y="1453007"/>
                      <a:pt x="7122795" y="1453007"/>
                    </a:cubicBezTo>
                    <a:lnTo>
                      <a:pt x="223520" y="1453007"/>
                    </a:lnTo>
                    <a:cubicBezTo>
                      <a:pt x="100076" y="1453007"/>
                      <a:pt x="0" y="1352931"/>
                      <a:pt x="0" y="1229487"/>
                    </a:cubicBez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48515" b="-48515"/>
                </a:stretch>
              </a:blipFill>
              <a:ln w="19065" cap="sq">
                <a:solidFill>
                  <a:srgbClr val="D9B8C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SG"/>
              </a:p>
            </p:txBody>
          </p:sp>
        </p:grpSp>
        <p:grpSp>
          <p:nvGrpSpPr>
            <p:cNvPr id="78" name="Group 78"/>
            <p:cNvGrpSpPr/>
            <p:nvPr/>
          </p:nvGrpSpPr>
          <p:grpSpPr>
            <a:xfrm>
              <a:off x="296550" y="3341058"/>
              <a:ext cx="917101" cy="917101"/>
              <a:chOff x="0" y="0"/>
              <a:chExt cx="849020" cy="849020"/>
            </a:xfrm>
          </p:grpSpPr>
          <p:sp>
            <p:nvSpPr>
              <p:cNvPr id="79" name="Freeform 79"/>
              <p:cNvSpPr/>
              <p:nvPr/>
            </p:nvSpPr>
            <p:spPr>
              <a:xfrm>
                <a:off x="0" y="0"/>
                <a:ext cx="848995" cy="848995"/>
              </a:xfrm>
              <a:custGeom>
                <a:avLst/>
                <a:gdLst/>
                <a:ahLst/>
                <a:cxnLst/>
                <a:rect l="l" t="t" r="r" b="b"/>
                <a:pathLst>
                  <a:path w="848995" h="848995">
                    <a:moveTo>
                      <a:pt x="0" y="424561"/>
                    </a:moveTo>
                    <a:cubicBezTo>
                      <a:pt x="0" y="190119"/>
                      <a:pt x="190119" y="0"/>
                      <a:pt x="424561" y="0"/>
                    </a:cubicBezTo>
                    <a:cubicBezTo>
                      <a:pt x="659003" y="0"/>
                      <a:pt x="848995" y="190119"/>
                      <a:pt x="848995" y="424561"/>
                    </a:cubicBezTo>
                    <a:cubicBezTo>
                      <a:pt x="848995" y="659003"/>
                      <a:pt x="659003" y="848995"/>
                      <a:pt x="424561" y="848995"/>
                    </a:cubicBezTo>
                    <a:cubicBezTo>
                      <a:pt x="190119" y="848995"/>
                      <a:pt x="0" y="659003"/>
                      <a:pt x="0" y="424561"/>
                    </a:cubicBezTo>
                    <a:close/>
                  </a:path>
                </a:pathLst>
              </a:custGeom>
              <a:solidFill>
                <a:srgbClr val="F8DDE9"/>
              </a:solidFill>
              <a:ln w="19065" cap="sq">
                <a:solidFill>
                  <a:srgbClr val="D9B8C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SG"/>
              </a:p>
            </p:txBody>
          </p:sp>
        </p:grpSp>
        <p:sp>
          <p:nvSpPr>
            <p:cNvPr id="80" name="TextBox 80"/>
            <p:cNvSpPr txBox="1"/>
            <p:nvPr/>
          </p:nvSpPr>
          <p:spPr>
            <a:xfrm>
              <a:off x="683943" y="3598026"/>
              <a:ext cx="183579" cy="3936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35"/>
                </a:lnSpc>
              </a:pPr>
              <a:r>
                <a:rPr lang="en-US" sz="1945" b="1">
                  <a:solidFill>
                    <a:srgbClr val="9B3B7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2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849934" y="3202834"/>
              <a:ext cx="3866890" cy="457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56"/>
                </a:lnSpc>
              </a:pPr>
              <a:r>
                <a:rPr lang="en-US" sz="2297" b="1">
                  <a:solidFill>
                    <a:srgbClr val="2B0318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Longer Training</a:t>
              </a:r>
            </a:p>
          </p:txBody>
        </p:sp>
        <p:grpSp>
          <p:nvGrpSpPr>
            <p:cNvPr id="82" name="Group 82"/>
            <p:cNvGrpSpPr/>
            <p:nvPr/>
          </p:nvGrpSpPr>
          <p:grpSpPr>
            <a:xfrm>
              <a:off x="296550" y="5024811"/>
              <a:ext cx="917101" cy="917101"/>
              <a:chOff x="0" y="0"/>
              <a:chExt cx="849020" cy="849020"/>
            </a:xfrm>
          </p:grpSpPr>
          <p:sp>
            <p:nvSpPr>
              <p:cNvPr id="83" name="Freeform 83"/>
              <p:cNvSpPr/>
              <p:nvPr/>
            </p:nvSpPr>
            <p:spPr>
              <a:xfrm>
                <a:off x="0" y="0"/>
                <a:ext cx="848995" cy="848995"/>
              </a:xfrm>
              <a:custGeom>
                <a:avLst/>
                <a:gdLst/>
                <a:ahLst/>
                <a:cxnLst/>
                <a:rect l="l" t="t" r="r" b="b"/>
                <a:pathLst>
                  <a:path w="848995" h="848995">
                    <a:moveTo>
                      <a:pt x="0" y="424561"/>
                    </a:moveTo>
                    <a:cubicBezTo>
                      <a:pt x="0" y="190119"/>
                      <a:pt x="190119" y="0"/>
                      <a:pt x="424561" y="0"/>
                    </a:cubicBezTo>
                    <a:cubicBezTo>
                      <a:pt x="659003" y="0"/>
                      <a:pt x="848995" y="190119"/>
                      <a:pt x="848995" y="424561"/>
                    </a:cubicBezTo>
                    <a:cubicBezTo>
                      <a:pt x="848995" y="659003"/>
                      <a:pt x="659003" y="848995"/>
                      <a:pt x="424561" y="848995"/>
                    </a:cubicBezTo>
                    <a:cubicBezTo>
                      <a:pt x="190119" y="848995"/>
                      <a:pt x="0" y="659003"/>
                      <a:pt x="0" y="424561"/>
                    </a:cubicBezTo>
                    <a:close/>
                  </a:path>
                </a:pathLst>
              </a:custGeom>
              <a:solidFill>
                <a:srgbClr val="F8DDE9"/>
              </a:solidFill>
              <a:ln w="19065" cap="sq">
                <a:solidFill>
                  <a:srgbClr val="D9B8C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SG"/>
              </a:p>
            </p:txBody>
          </p:sp>
        </p:grpSp>
        <p:sp>
          <p:nvSpPr>
            <p:cNvPr id="84" name="TextBox 84"/>
            <p:cNvSpPr txBox="1"/>
            <p:nvPr/>
          </p:nvSpPr>
          <p:spPr>
            <a:xfrm>
              <a:off x="657745" y="5283231"/>
              <a:ext cx="194725" cy="3936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35"/>
                </a:lnSpc>
              </a:pPr>
              <a:r>
                <a:rPr lang="en-US" sz="1945" b="1">
                  <a:solidFill>
                    <a:srgbClr val="9B3B7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3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849934" y="4961353"/>
              <a:ext cx="3451182" cy="457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56"/>
                </a:lnSpc>
              </a:pPr>
              <a:r>
                <a:rPr lang="en-US" sz="2297" b="1">
                  <a:solidFill>
                    <a:srgbClr val="2B0318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Generator EMA</a:t>
              </a:r>
            </a:p>
          </p:txBody>
        </p:sp>
        <p:grpSp>
          <p:nvGrpSpPr>
            <p:cNvPr id="86" name="Group 86"/>
            <p:cNvGrpSpPr/>
            <p:nvPr/>
          </p:nvGrpSpPr>
          <p:grpSpPr>
            <a:xfrm>
              <a:off x="0" y="6622808"/>
              <a:ext cx="8076645" cy="1597437"/>
              <a:chOff x="0" y="0"/>
              <a:chExt cx="7346340" cy="1452994"/>
            </a:xfrm>
          </p:grpSpPr>
          <p:sp>
            <p:nvSpPr>
              <p:cNvPr id="87" name="Freeform 87"/>
              <p:cNvSpPr/>
              <p:nvPr/>
            </p:nvSpPr>
            <p:spPr>
              <a:xfrm>
                <a:off x="0" y="0"/>
                <a:ext cx="7346314" cy="1453007"/>
              </a:xfrm>
              <a:custGeom>
                <a:avLst/>
                <a:gdLst/>
                <a:ahLst/>
                <a:cxnLst/>
                <a:rect l="l" t="t" r="r" b="b"/>
                <a:pathLst>
                  <a:path w="7346314" h="1453007">
                    <a:moveTo>
                      <a:pt x="0" y="223520"/>
                    </a:moveTo>
                    <a:cubicBezTo>
                      <a:pt x="0" y="100076"/>
                      <a:pt x="100076" y="0"/>
                      <a:pt x="223520" y="0"/>
                    </a:cubicBezTo>
                    <a:lnTo>
                      <a:pt x="7122795" y="0"/>
                    </a:lnTo>
                    <a:cubicBezTo>
                      <a:pt x="7246238" y="0"/>
                      <a:pt x="7346314" y="100076"/>
                      <a:pt x="7346314" y="223520"/>
                    </a:cubicBezTo>
                    <a:lnTo>
                      <a:pt x="7346314" y="1229487"/>
                    </a:lnTo>
                    <a:cubicBezTo>
                      <a:pt x="7346314" y="1352931"/>
                      <a:pt x="7246238" y="1453007"/>
                      <a:pt x="7122795" y="1453007"/>
                    </a:cubicBezTo>
                    <a:lnTo>
                      <a:pt x="223520" y="1453007"/>
                    </a:lnTo>
                    <a:cubicBezTo>
                      <a:pt x="100076" y="1453007"/>
                      <a:pt x="0" y="1352931"/>
                      <a:pt x="0" y="1229487"/>
                    </a:cubicBez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48515" b="-48515"/>
                </a:stretch>
              </a:blipFill>
              <a:ln w="19065" cap="sq">
                <a:solidFill>
                  <a:srgbClr val="D9B8C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SG"/>
              </a:p>
            </p:txBody>
          </p:sp>
        </p:grpSp>
        <p:grpSp>
          <p:nvGrpSpPr>
            <p:cNvPr id="88" name="Group 88"/>
            <p:cNvGrpSpPr/>
            <p:nvPr/>
          </p:nvGrpSpPr>
          <p:grpSpPr>
            <a:xfrm>
              <a:off x="296550" y="6931098"/>
              <a:ext cx="917101" cy="917101"/>
              <a:chOff x="0" y="0"/>
              <a:chExt cx="849020" cy="849020"/>
            </a:xfrm>
          </p:grpSpPr>
          <p:sp>
            <p:nvSpPr>
              <p:cNvPr id="89" name="Freeform 89"/>
              <p:cNvSpPr/>
              <p:nvPr/>
            </p:nvSpPr>
            <p:spPr>
              <a:xfrm>
                <a:off x="0" y="0"/>
                <a:ext cx="848995" cy="848995"/>
              </a:xfrm>
              <a:custGeom>
                <a:avLst/>
                <a:gdLst/>
                <a:ahLst/>
                <a:cxnLst/>
                <a:rect l="l" t="t" r="r" b="b"/>
                <a:pathLst>
                  <a:path w="848995" h="848995">
                    <a:moveTo>
                      <a:pt x="0" y="424561"/>
                    </a:moveTo>
                    <a:cubicBezTo>
                      <a:pt x="0" y="190119"/>
                      <a:pt x="190119" y="0"/>
                      <a:pt x="424561" y="0"/>
                    </a:cubicBezTo>
                    <a:cubicBezTo>
                      <a:pt x="659003" y="0"/>
                      <a:pt x="848995" y="190119"/>
                      <a:pt x="848995" y="424561"/>
                    </a:cubicBezTo>
                    <a:cubicBezTo>
                      <a:pt x="848995" y="659003"/>
                      <a:pt x="659003" y="848995"/>
                      <a:pt x="424561" y="848995"/>
                    </a:cubicBezTo>
                    <a:cubicBezTo>
                      <a:pt x="190119" y="848995"/>
                      <a:pt x="0" y="659003"/>
                      <a:pt x="0" y="424561"/>
                    </a:cubicBezTo>
                    <a:close/>
                  </a:path>
                </a:pathLst>
              </a:custGeom>
              <a:solidFill>
                <a:srgbClr val="F8DDE9"/>
              </a:solidFill>
              <a:ln w="19065" cap="sq">
                <a:solidFill>
                  <a:srgbClr val="D9B8C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SG"/>
              </a:p>
            </p:txBody>
          </p:sp>
        </p:grpSp>
        <p:sp>
          <p:nvSpPr>
            <p:cNvPr id="90" name="TextBox 90"/>
            <p:cNvSpPr txBox="1"/>
            <p:nvPr/>
          </p:nvSpPr>
          <p:spPr>
            <a:xfrm>
              <a:off x="641883" y="7188066"/>
              <a:ext cx="205013" cy="3936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35"/>
                </a:lnSpc>
              </a:pPr>
              <a:r>
                <a:rPr lang="en-US" sz="1945" b="1">
                  <a:solidFill>
                    <a:srgbClr val="9B3B7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4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749349" y="6804098"/>
              <a:ext cx="4577948" cy="457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56"/>
                </a:lnSpc>
              </a:pPr>
              <a:r>
                <a:rPr lang="en-US" sz="2297" b="1">
                  <a:solidFill>
                    <a:srgbClr val="2B0318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Alternative Upsampling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0" y="-9525"/>
              <a:ext cx="8317093" cy="1101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39"/>
                </a:lnSpc>
              </a:pPr>
              <a:r>
                <a:rPr lang="en-US" sz="2699" b="1">
                  <a:solidFill>
                    <a:srgbClr val="111111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Four Controlled Improvement Experiments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1387717" y="1984618"/>
              <a:ext cx="6255870" cy="7016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88811" lvl="1" indent="-194406" algn="l">
                <a:lnSpc>
                  <a:spcPts val="2161"/>
                </a:lnSpc>
                <a:buFont typeface="Arial"/>
                <a:buChar char="•"/>
              </a:pPr>
              <a:r>
                <a:rPr lang="en-US" sz="1800">
                  <a:solidFill>
                    <a:srgbClr val="111111"/>
                  </a:solidFill>
                  <a:latin typeface="Canva Sans"/>
                  <a:ea typeface="Canva Sans"/>
                  <a:cs typeface="Canva Sans"/>
                  <a:sym typeface="Canva Sans"/>
                </a:rPr>
                <a:t>50 epochs</a:t>
              </a:r>
            </a:p>
            <a:p>
              <a:pPr marL="388811" lvl="1" indent="-194406" algn="l">
                <a:lnSpc>
                  <a:spcPts val="2161"/>
                </a:lnSpc>
                <a:buFont typeface="Arial"/>
                <a:buChar char="•"/>
              </a:pPr>
              <a:r>
                <a:rPr lang="en-US" sz="1800">
                  <a:solidFill>
                    <a:srgbClr val="111111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Support requested-class generation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387717" y="3763905"/>
              <a:ext cx="5768446" cy="7016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88811" lvl="1" indent="-194406" algn="l">
                <a:lnSpc>
                  <a:spcPts val="2161"/>
                </a:lnSpc>
                <a:buFont typeface="Arial"/>
                <a:buChar char="•"/>
              </a:pPr>
              <a:r>
                <a:rPr lang="en-US" sz="1800">
                  <a:solidFill>
                    <a:srgbClr val="111111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Extend budget</a:t>
              </a:r>
            </a:p>
            <a:p>
              <a:pPr marL="388811" lvl="1" indent="-194406" algn="l">
                <a:lnSpc>
                  <a:spcPts val="2161"/>
                </a:lnSpc>
                <a:buFont typeface="Arial"/>
                <a:buChar char="•"/>
              </a:pPr>
              <a:r>
                <a:rPr lang="en-US" sz="1800">
                  <a:solidFill>
                    <a:srgbClr val="111111"/>
                  </a:solidFill>
                  <a:latin typeface="Canva Sans"/>
                  <a:ea typeface="Canva Sans"/>
                  <a:cs typeface="Canva Sans"/>
                  <a:sym typeface="Canva Sans"/>
                </a:rPr>
                <a:t>50 → 100 epochs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1387717" y="5492887"/>
              <a:ext cx="5768446" cy="7016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88811" lvl="1" indent="-194406" algn="l">
                <a:lnSpc>
                  <a:spcPts val="2161"/>
                </a:lnSpc>
                <a:buFont typeface="Arial"/>
                <a:buChar char="•"/>
              </a:pPr>
              <a:r>
                <a:rPr lang="en-US" sz="1800">
                  <a:solidFill>
                    <a:srgbClr val="111111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EMA decay = 0.999</a:t>
              </a:r>
            </a:p>
            <a:p>
              <a:pPr marL="388811" lvl="1" indent="-194406" algn="l">
                <a:lnSpc>
                  <a:spcPts val="2161"/>
                </a:lnSpc>
                <a:buFont typeface="Arial"/>
                <a:buChar char="•"/>
              </a:pPr>
              <a:r>
                <a:rPr lang="en-US" sz="1800">
                  <a:solidFill>
                    <a:srgbClr val="111111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Smooth generator weights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1387717" y="7322492"/>
              <a:ext cx="6688928" cy="7016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88811" lvl="1" indent="-194406" algn="l">
                <a:lnSpc>
                  <a:spcPts val="2161"/>
                </a:lnSpc>
                <a:buFont typeface="Arial"/>
                <a:buChar char="•"/>
              </a:pPr>
              <a:r>
                <a:rPr lang="en-US" sz="1800">
                  <a:solidFill>
                    <a:srgbClr val="111111"/>
                  </a:solidFill>
                  <a:latin typeface="Canva Sans"/>
                  <a:ea typeface="Canva Sans"/>
                  <a:cs typeface="Canva Sans"/>
                  <a:sym typeface="Canva Sans"/>
                </a:rPr>
                <a:t>Nearest-neighbour upsampling + Conv2D</a:t>
              </a:r>
            </a:p>
            <a:p>
              <a:pPr marL="388811" lvl="1" indent="-194406" algn="l">
                <a:lnSpc>
                  <a:spcPts val="2161"/>
                </a:lnSpc>
                <a:buFont typeface="Arial"/>
                <a:buChar char="•"/>
              </a:pPr>
              <a:r>
                <a:rPr lang="en-US" sz="1800">
                  <a:solidFill>
                    <a:srgbClr val="111111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Retain accepted settings</a:t>
              </a:r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788832" y="8053849"/>
            <a:ext cx="17013202" cy="1461626"/>
            <a:chOff x="0" y="0"/>
            <a:chExt cx="22684270" cy="1948834"/>
          </a:xfrm>
        </p:grpSpPr>
        <p:grpSp>
          <p:nvGrpSpPr>
            <p:cNvPr id="98" name="Group 98"/>
            <p:cNvGrpSpPr/>
            <p:nvPr/>
          </p:nvGrpSpPr>
          <p:grpSpPr>
            <a:xfrm>
              <a:off x="0" y="0"/>
              <a:ext cx="22684270" cy="1948834"/>
              <a:chOff x="0" y="0"/>
              <a:chExt cx="22684270" cy="1948834"/>
            </a:xfrm>
          </p:grpSpPr>
          <p:sp>
            <p:nvSpPr>
              <p:cNvPr id="99" name="Freeform 99"/>
              <p:cNvSpPr/>
              <p:nvPr/>
            </p:nvSpPr>
            <p:spPr>
              <a:xfrm>
                <a:off x="0" y="0"/>
                <a:ext cx="22684358" cy="1948923"/>
              </a:xfrm>
              <a:custGeom>
                <a:avLst/>
                <a:gdLst/>
                <a:ahLst/>
                <a:cxnLst/>
                <a:rect l="l" t="t" r="r" b="b"/>
                <a:pathLst>
                  <a:path w="22684358" h="1948923">
                    <a:moveTo>
                      <a:pt x="0" y="324858"/>
                    </a:moveTo>
                    <a:cubicBezTo>
                      <a:pt x="0" y="145385"/>
                      <a:pt x="110750" y="0"/>
                      <a:pt x="247468" y="0"/>
                    </a:cubicBezTo>
                    <a:lnTo>
                      <a:pt x="22436900" y="0"/>
                    </a:lnTo>
                    <a:cubicBezTo>
                      <a:pt x="22573617" y="0"/>
                      <a:pt x="22684358" y="145385"/>
                      <a:pt x="22684358" y="324858"/>
                    </a:cubicBezTo>
                    <a:lnTo>
                      <a:pt x="22684358" y="1624105"/>
                    </a:lnTo>
                    <a:cubicBezTo>
                      <a:pt x="22684358" y="1803578"/>
                      <a:pt x="22573617" y="1948923"/>
                      <a:pt x="22436900" y="1948923"/>
                    </a:cubicBezTo>
                    <a:lnTo>
                      <a:pt x="247468" y="1948923"/>
                    </a:lnTo>
                    <a:cubicBezTo>
                      <a:pt x="110750" y="1948779"/>
                      <a:pt x="0" y="1803394"/>
                      <a:pt x="0" y="1624105"/>
                    </a:cubicBez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170736" r="9523" b="-139655"/>
                </a:stretch>
              </a:blipFill>
              <a:ln w="19065" cap="sq">
                <a:solidFill>
                  <a:srgbClr val="D9B8C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SG"/>
              </a:p>
            </p:txBody>
          </p:sp>
        </p:grpSp>
        <p:grpSp>
          <p:nvGrpSpPr>
            <p:cNvPr id="100" name="Group 100"/>
            <p:cNvGrpSpPr/>
            <p:nvPr/>
          </p:nvGrpSpPr>
          <p:grpSpPr>
            <a:xfrm>
              <a:off x="0" y="88610"/>
              <a:ext cx="21847020" cy="1860224"/>
              <a:chOff x="0" y="0"/>
              <a:chExt cx="21847020" cy="1860224"/>
            </a:xfrm>
          </p:grpSpPr>
          <p:sp>
            <p:nvSpPr>
              <p:cNvPr id="101" name="Freeform 101"/>
              <p:cNvSpPr/>
              <p:nvPr/>
            </p:nvSpPr>
            <p:spPr>
              <a:xfrm>
                <a:off x="0" y="0"/>
                <a:ext cx="21847020" cy="1860208"/>
              </a:xfrm>
              <a:custGeom>
                <a:avLst/>
                <a:gdLst/>
                <a:ahLst/>
                <a:cxnLst/>
                <a:rect l="l" t="t" r="r" b="b"/>
                <a:pathLst>
                  <a:path w="21847020" h="1860208">
                    <a:moveTo>
                      <a:pt x="0" y="0"/>
                    </a:moveTo>
                    <a:lnTo>
                      <a:pt x="21847020" y="0"/>
                    </a:lnTo>
                    <a:lnTo>
                      <a:pt x="21847020" y="1860208"/>
                    </a:lnTo>
                    <a:lnTo>
                      <a:pt x="0" y="1860208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189337" r="9523" b="-124757"/>
                </a:stretch>
              </a:blipFill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102" name="TextBox 102"/>
              <p:cNvSpPr txBox="1"/>
              <p:nvPr/>
            </p:nvSpPr>
            <p:spPr>
              <a:xfrm>
                <a:off x="0" y="9525"/>
                <a:ext cx="21847020" cy="1850699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277"/>
                  </a:lnSpc>
                </a:pPr>
                <a:r>
                  <a:rPr lang="en-US" sz="2731" b="1">
                    <a:solidFill>
                      <a:srgbClr val="2B0318"/>
                    </a:solidFill>
                    <a:latin typeface="Canva Sans Bold"/>
                    <a:ea typeface="Canva Sans Bold"/>
                    <a:cs typeface="Canva Sans Bold"/>
                    <a:sym typeface="Canva Sans Bold"/>
                  </a:rPr>
                  <a:t>Key Control principle: Only one main factor was changed at a time; each candidate was compared with its parent using the same evaluation procedure.</a:t>
                </a: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88532" y="268304"/>
            <a:ext cx="17710937" cy="9750392"/>
            <a:chOff x="0" y="0"/>
            <a:chExt cx="23151381" cy="127455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151381" cy="12745466"/>
            </a:xfrm>
            <a:custGeom>
              <a:avLst/>
              <a:gdLst/>
              <a:ahLst/>
              <a:cxnLst/>
              <a:rect l="l" t="t" r="r" b="b"/>
              <a:pathLst>
                <a:path w="23151381" h="12745466">
                  <a:moveTo>
                    <a:pt x="0" y="0"/>
                  </a:moveTo>
                  <a:lnTo>
                    <a:pt x="23151381" y="0"/>
                  </a:lnTo>
                  <a:lnTo>
                    <a:pt x="23151381" y="12745466"/>
                  </a:lnTo>
                  <a:lnTo>
                    <a:pt x="0" y="1274546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063" r="-21205"/>
              </a:stretch>
            </a:blipFill>
            <a:ln w="19065" cap="sq">
              <a:solidFill>
                <a:srgbClr val="BFAAB5"/>
              </a:solidFill>
              <a:prstDash val="solid"/>
              <a:miter/>
            </a:ln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54971" y="466706"/>
            <a:ext cx="16746607" cy="576520"/>
            <a:chOff x="0" y="0"/>
            <a:chExt cx="22328810" cy="76869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328805" cy="768697"/>
            </a:xfrm>
            <a:custGeom>
              <a:avLst/>
              <a:gdLst/>
              <a:ahLst/>
              <a:cxnLst/>
              <a:rect l="l" t="t" r="r" b="b"/>
              <a:pathLst>
                <a:path w="22328805" h="768697">
                  <a:moveTo>
                    <a:pt x="0" y="0"/>
                  </a:moveTo>
                  <a:lnTo>
                    <a:pt x="22328805" y="0"/>
                  </a:lnTo>
                  <a:lnTo>
                    <a:pt x="22328805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15994" b="-515993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22328810" cy="76869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23"/>
                </a:lnSpc>
              </a:pPr>
              <a:r>
                <a:rPr lang="en-US" sz="3602" b="1">
                  <a:solidFill>
                    <a:srgbClr val="111111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Evaluation &amp; Systematic Improvements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870118" y="1268331"/>
            <a:ext cx="4232489" cy="382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1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How quality was assessed?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812259" y="1846530"/>
            <a:ext cx="6343647" cy="1041898"/>
            <a:chOff x="0" y="0"/>
            <a:chExt cx="7620876" cy="125167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620889" cy="1251712"/>
            </a:xfrm>
            <a:custGeom>
              <a:avLst/>
              <a:gdLst/>
              <a:ahLst/>
              <a:cxnLst/>
              <a:rect l="l" t="t" r="r" b="b"/>
              <a:pathLst>
                <a:path w="7620889" h="1251712">
                  <a:moveTo>
                    <a:pt x="0" y="224155"/>
                  </a:moveTo>
                  <a:cubicBezTo>
                    <a:pt x="0" y="100330"/>
                    <a:pt x="100330" y="0"/>
                    <a:pt x="224155" y="0"/>
                  </a:cubicBezTo>
                  <a:lnTo>
                    <a:pt x="7396734" y="0"/>
                  </a:lnTo>
                  <a:cubicBezTo>
                    <a:pt x="7520559" y="0"/>
                    <a:pt x="7620889" y="100330"/>
                    <a:pt x="7620889" y="224155"/>
                  </a:cubicBezTo>
                  <a:lnTo>
                    <a:pt x="7620889" y="1027557"/>
                  </a:lnTo>
                  <a:cubicBezTo>
                    <a:pt x="7620889" y="1151382"/>
                    <a:pt x="7520559" y="1251712"/>
                    <a:pt x="7396734" y="1251712"/>
                  </a:cubicBezTo>
                  <a:lnTo>
                    <a:pt x="224155" y="1251712"/>
                  </a:lnTo>
                  <a:cubicBezTo>
                    <a:pt x="100330" y="1251712"/>
                    <a:pt x="0" y="1151255"/>
                    <a:pt x="0" y="1027557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8633" b="-68630"/>
              </a:stretch>
            </a:blipFill>
            <a:ln w="19065" cap="sq">
              <a:solidFill>
                <a:srgbClr val="D9B8C9"/>
              </a:solidFill>
              <a:prstDash val="solid"/>
              <a:miter/>
            </a:ln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111721" y="2134895"/>
            <a:ext cx="529352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1">
                <a:solidFill>
                  <a:srgbClr val="9B3B7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FID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650096" y="1911057"/>
            <a:ext cx="4373883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Primary metric — lower means closer to real CIFAR-10 feature distribution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794689" y="2955835"/>
            <a:ext cx="6361217" cy="1110532"/>
            <a:chOff x="0" y="0"/>
            <a:chExt cx="7620876" cy="133044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620889" cy="1330479"/>
            </a:xfrm>
            <a:custGeom>
              <a:avLst/>
              <a:gdLst/>
              <a:ahLst/>
              <a:cxnLst/>
              <a:rect l="l" t="t" r="r" b="b"/>
              <a:pathLst>
                <a:path w="7620889" h="1330479">
                  <a:moveTo>
                    <a:pt x="0" y="238261"/>
                  </a:moveTo>
                  <a:cubicBezTo>
                    <a:pt x="0" y="106644"/>
                    <a:pt x="100330" y="0"/>
                    <a:pt x="224155" y="0"/>
                  </a:cubicBezTo>
                  <a:lnTo>
                    <a:pt x="7396734" y="0"/>
                  </a:lnTo>
                  <a:cubicBezTo>
                    <a:pt x="7520559" y="0"/>
                    <a:pt x="7620889" y="106644"/>
                    <a:pt x="7620889" y="238261"/>
                  </a:cubicBezTo>
                  <a:lnTo>
                    <a:pt x="7620889" y="1092221"/>
                  </a:lnTo>
                  <a:cubicBezTo>
                    <a:pt x="7620889" y="1223838"/>
                    <a:pt x="7520559" y="1330479"/>
                    <a:pt x="7396734" y="1330479"/>
                  </a:cubicBezTo>
                  <a:lnTo>
                    <a:pt x="224155" y="1330479"/>
                  </a:lnTo>
                  <a:cubicBezTo>
                    <a:pt x="100330" y="1330479"/>
                    <a:pt x="0" y="1223703"/>
                    <a:pt x="0" y="1092221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4570" b="-58647"/>
              </a:stretch>
            </a:blipFill>
            <a:ln w="19065" cap="sq">
              <a:solidFill>
                <a:srgbClr val="D9B8C9"/>
              </a:solidFill>
              <a:prstDash val="solid"/>
              <a:miter/>
            </a:ln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040170" y="3039613"/>
            <a:ext cx="1697360" cy="942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9B3B7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Average Pairwise MSE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650096" y="3152698"/>
            <a:ext cx="3518175" cy="666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Supporting indicator of output variation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812259" y="4133773"/>
            <a:ext cx="6343647" cy="1041898"/>
            <a:chOff x="0" y="0"/>
            <a:chExt cx="7620876" cy="125167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620889" cy="1251712"/>
            </a:xfrm>
            <a:custGeom>
              <a:avLst/>
              <a:gdLst/>
              <a:ahLst/>
              <a:cxnLst/>
              <a:rect l="l" t="t" r="r" b="b"/>
              <a:pathLst>
                <a:path w="7620889" h="1251712">
                  <a:moveTo>
                    <a:pt x="0" y="224155"/>
                  </a:moveTo>
                  <a:cubicBezTo>
                    <a:pt x="0" y="100330"/>
                    <a:pt x="100330" y="0"/>
                    <a:pt x="224155" y="0"/>
                  </a:cubicBezTo>
                  <a:lnTo>
                    <a:pt x="7396734" y="0"/>
                  </a:lnTo>
                  <a:cubicBezTo>
                    <a:pt x="7520559" y="0"/>
                    <a:pt x="7620889" y="100330"/>
                    <a:pt x="7620889" y="224155"/>
                  </a:cubicBezTo>
                  <a:lnTo>
                    <a:pt x="7620889" y="1027557"/>
                  </a:lnTo>
                  <a:cubicBezTo>
                    <a:pt x="7620889" y="1151382"/>
                    <a:pt x="7520559" y="1251712"/>
                    <a:pt x="7396734" y="1251712"/>
                  </a:cubicBezTo>
                  <a:lnTo>
                    <a:pt x="224155" y="1251712"/>
                  </a:lnTo>
                  <a:cubicBezTo>
                    <a:pt x="100330" y="1251712"/>
                    <a:pt x="0" y="1151255"/>
                    <a:pt x="0" y="1027557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8633" b="-68630"/>
              </a:stretch>
            </a:blipFill>
            <a:ln w="19065" cap="sq">
              <a:solidFill>
                <a:srgbClr val="D9B8C9"/>
              </a:solidFill>
              <a:prstDash val="solid"/>
              <a:miter/>
            </a:ln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022628" y="4275793"/>
            <a:ext cx="1586233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1">
                <a:solidFill>
                  <a:srgbClr val="9B3B7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Visual inspection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650096" y="4316979"/>
            <a:ext cx="4216632" cy="62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Examine structure, colour, repetition and possible collapse.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168129" y="1277856"/>
            <a:ext cx="5729526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Selected Validation FID by Experiment</a:t>
            </a:r>
          </a:p>
        </p:txBody>
      </p:sp>
      <p:sp>
        <p:nvSpPr>
          <p:cNvPr id="21" name="AutoShape 21"/>
          <p:cNvSpPr/>
          <p:nvPr/>
        </p:nvSpPr>
        <p:spPr>
          <a:xfrm>
            <a:off x="7870362" y="5181528"/>
            <a:ext cx="9100406" cy="18742"/>
          </a:xfrm>
          <a:prstGeom prst="line">
            <a:avLst/>
          </a:prstGeom>
          <a:ln w="9525" cap="rnd">
            <a:solidFill>
              <a:srgbClr val="4B4B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SG"/>
          </a:p>
        </p:txBody>
      </p:sp>
      <p:sp>
        <p:nvSpPr>
          <p:cNvPr id="22" name="AutoShape 22"/>
          <p:cNvSpPr/>
          <p:nvPr/>
        </p:nvSpPr>
        <p:spPr>
          <a:xfrm>
            <a:off x="7870352" y="2010430"/>
            <a:ext cx="18707" cy="3180469"/>
          </a:xfrm>
          <a:prstGeom prst="line">
            <a:avLst/>
          </a:prstGeom>
          <a:ln w="9525" cap="rnd">
            <a:solidFill>
              <a:srgbClr val="4B4B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SG"/>
          </a:p>
        </p:txBody>
      </p:sp>
      <p:grpSp>
        <p:nvGrpSpPr>
          <p:cNvPr id="23" name="Group 23"/>
          <p:cNvGrpSpPr/>
          <p:nvPr/>
        </p:nvGrpSpPr>
        <p:grpSpPr>
          <a:xfrm>
            <a:off x="8293872" y="3769052"/>
            <a:ext cx="987406" cy="1412476"/>
            <a:chOff x="0" y="0"/>
            <a:chExt cx="1343190" cy="1921421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343152" cy="1921383"/>
            </a:xfrm>
            <a:custGeom>
              <a:avLst/>
              <a:gdLst/>
              <a:ahLst/>
              <a:cxnLst/>
              <a:rect l="l" t="t" r="r" b="b"/>
              <a:pathLst>
                <a:path w="1343152" h="1921383">
                  <a:moveTo>
                    <a:pt x="0" y="0"/>
                  </a:moveTo>
                  <a:lnTo>
                    <a:pt x="1343152" y="0"/>
                  </a:lnTo>
                  <a:lnTo>
                    <a:pt x="1343152" y="1921383"/>
                  </a:lnTo>
                  <a:lnTo>
                    <a:pt x="0" y="1921383"/>
                  </a:lnTo>
                  <a:close/>
                </a:path>
              </a:pathLst>
            </a:custGeom>
            <a:solidFill>
              <a:srgbClr val="5170FF"/>
            </a:solidFill>
            <a:ln w="19065" cap="sq">
              <a:solidFill>
                <a:srgbClr val="4D6E98"/>
              </a:solidFill>
              <a:prstDash val="solid"/>
              <a:miter/>
            </a:ln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8554905" y="3435749"/>
            <a:ext cx="496967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40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96.98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258297" y="5231961"/>
            <a:ext cx="1058556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599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Baseline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9899740" y="3687127"/>
            <a:ext cx="987406" cy="1497210"/>
            <a:chOff x="0" y="0"/>
            <a:chExt cx="1343190" cy="2036686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343152" cy="2036660"/>
            </a:xfrm>
            <a:custGeom>
              <a:avLst/>
              <a:gdLst/>
              <a:ahLst/>
              <a:cxnLst/>
              <a:rect l="l" t="t" r="r" b="b"/>
              <a:pathLst>
                <a:path w="1343152" h="2036660">
                  <a:moveTo>
                    <a:pt x="0" y="0"/>
                  </a:moveTo>
                  <a:lnTo>
                    <a:pt x="1343152" y="0"/>
                  </a:lnTo>
                  <a:lnTo>
                    <a:pt x="1343152" y="2036660"/>
                  </a:lnTo>
                  <a:lnTo>
                    <a:pt x="0" y="2036660"/>
                  </a:lnTo>
                  <a:close/>
                </a:path>
              </a:pathLst>
            </a:custGeom>
            <a:solidFill>
              <a:srgbClr val="FFBD59"/>
            </a:solidFill>
            <a:ln w="19065" cap="sq">
              <a:solidFill>
                <a:srgbClr val="4D6E98"/>
              </a:solidFill>
              <a:prstDash val="solid"/>
              <a:miter/>
            </a:ln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0159426" y="3373166"/>
            <a:ext cx="468035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40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99.57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864165" y="5231961"/>
            <a:ext cx="1058556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599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Cond.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11506272" y="3969224"/>
            <a:ext cx="987406" cy="1221675"/>
            <a:chOff x="0" y="0"/>
            <a:chExt cx="1343190" cy="1661871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343152" cy="1661922"/>
            </a:xfrm>
            <a:custGeom>
              <a:avLst/>
              <a:gdLst/>
              <a:ahLst/>
              <a:cxnLst/>
              <a:rect l="l" t="t" r="r" b="b"/>
              <a:pathLst>
                <a:path w="1343152" h="1661922">
                  <a:moveTo>
                    <a:pt x="0" y="0"/>
                  </a:moveTo>
                  <a:lnTo>
                    <a:pt x="1343152" y="0"/>
                  </a:lnTo>
                  <a:lnTo>
                    <a:pt x="1343152" y="1661922"/>
                  </a:lnTo>
                  <a:lnTo>
                    <a:pt x="0" y="1661922"/>
                  </a:lnTo>
                  <a:close/>
                </a:path>
              </a:pathLst>
            </a:custGeom>
            <a:solidFill>
              <a:srgbClr val="C1FF72"/>
            </a:solidFill>
            <a:ln w="19065" cap="sq">
              <a:solidFill>
                <a:srgbClr val="4D6E98"/>
              </a:solidFill>
              <a:prstDash val="solid"/>
              <a:miter/>
            </a:ln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1737235" y="3600665"/>
            <a:ext cx="439579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40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83.71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427746" y="5231961"/>
            <a:ext cx="1058556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599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100 ep.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13112803" y="4099823"/>
            <a:ext cx="987406" cy="1100447"/>
            <a:chOff x="0" y="0"/>
            <a:chExt cx="1343190" cy="1496962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343152" cy="1496949"/>
            </a:xfrm>
            <a:custGeom>
              <a:avLst/>
              <a:gdLst/>
              <a:ahLst/>
              <a:cxnLst/>
              <a:rect l="l" t="t" r="r" b="b"/>
              <a:pathLst>
                <a:path w="1343152" h="1496949">
                  <a:moveTo>
                    <a:pt x="0" y="0"/>
                  </a:moveTo>
                  <a:lnTo>
                    <a:pt x="1343152" y="0"/>
                  </a:lnTo>
                  <a:lnTo>
                    <a:pt x="1343152" y="1496949"/>
                  </a:lnTo>
                  <a:lnTo>
                    <a:pt x="0" y="1496949"/>
                  </a:lnTo>
                  <a:close/>
                </a:path>
              </a:pathLst>
            </a:custGeom>
            <a:solidFill>
              <a:srgbClr val="C1FF72"/>
            </a:solidFill>
            <a:ln w="19065" cap="sq">
              <a:solidFill>
                <a:srgbClr val="9B3B72"/>
              </a:solidFill>
              <a:prstDash val="solid"/>
              <a:miter/>
            </a:ln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3394099" y="3759674"/>
            <a:ext cx="424815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40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75.27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3077228" y="5208300"/>
            <a:ext cx="1058556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EMA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14826548" y="2132516"/>
            <a:ext cx="987406" cy="3067754"/>
            <a:chOff x="0" y="0"/>
            <a:chExt cx="1343190" cy="4173131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343152" cy="4173093"/>
            </a:xfrm>
            <a:custGeom>
              <a:avLst/>
              <a:gdLst/>
              <a:ahLst/>
              <a:cxnLst/>
              <a:rect l="l" t="t" r="r" b="b"/>
              <a:pathLst>
                <a:path w="1343152" h="4173093">
                  <a:moveTo>
                    <a:pt x="0" y="0"/>
                  </a:moveTo>
                  <a:lnTo>
                    <a:pt x="1343152" y="0"/>
                  </a:lnTo>
                  <a:lnTo>
                    <a:pt x="1343152" y="4173093"/>
                  </a:lnTo>
                  <a:lnTo>
                    <a:pt x="0" y="4173093"/>
                  </a:lnTo>
                  <a:close/>
                </a:path>
              </a:pathLst>
            </a:custGeom>
            <a:solidFill>
              <a:srgbClr val="FF5757"/>
            </a:solidFill>
            <a:ln w="19065" cap="sq">
              <a:solidFill>
                <a:srgbClr val="A43B48"/>
              </a:solidFill>
              <a:prstDash val="solid"/>
              <a:miter/>
            </a:ln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5047479" y="1846530"/>
            <a:ext cx="545544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40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212.16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4735962" y="5231961"/>
            <a:ext cx="1168579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Upsampling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168129" y="1878068"/>
            <a:ext cx="1543407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 b="1">
                <a:solidFill>
                  <a:srgbClr val="9B3B7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FID ↓ better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832018" y="5585247"/>
            <a:ext cx="3788085" cy="1481542"/>
            <a:chOff x="0" y="0"/>
            <a:chExt cx="5150066" cy="2014221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5149977" cy="2014234"/>
            </a:xfrm>
            <a:custGeom>
              <a:avLst/>
              <a:gdLst/>
              <a:ahLst/>
              <a:cxnLst/>
              <a:rect l="l" t="t" r="r" b="b"/>
              <a:pathLst>
                <a:path w="5149977" h="2014234">
                  <a:moveTo>
                    <a:pt x="0" y="309856"/>
                  </a:moveTo>
                  <a:cubicBezTo>
                    <a:pt x="0" y="138731"/>
                    <a:pt x="100076" y="0"/>
                    <a:pt x="223520" y="0"/>
                  </a:cubicBezTo>
                  <a:lnTo>
                    <a:pt x="4926457" y="0"/>
                  </a:lnTo>
                  <a:cubicBezTo>
                    <a:pt x="5049901" y="0"/>
                    <a:pt x="5149977" y="138731"/>
                    <a:pt x="5149977" y="309856"/>
                  </a:cubicBezTo>
                  <a:lnTo>
                    <a:pt x="5149977" y="1704383"/>
                  </a:lnTo>
                  <a:cubicBezTo>
                    <a:pt x="5149977" y="1875508"/>
                    <a:pt x="5049901" y="2014234"/>
                    <a:pt x="4926457" y="2014234"/>
                  </a:cubicBezTo>
                  <a:lnTo>
                    <a:pt x="223520" y="2014234"/>
                  </a:lnTo>
                  <a:cubicBezTo>
                    <a:pt x="100076" y="2014234"/>
                    <a:pt x="0" y="1875508"/>
                    <a:pt x="0" y="1704383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751" r="-1" b="14111"/>
              </a:stretch>
            </a:blipFill>
            <a:ln w="19065" cap="sq">
              <a:solidFill>
                <a:srgbClr val="A76F24"/>
              </a:solidFill>
              <a:prstDash val="solid"/>
              <a:miter/>
            </a:ln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1260577" y="5585221"/>
            <a:ext cx="2779038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 dirty="0">
                <a:solidFill>
                  <a:srgbClr val="2B031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 . Class Conditioning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938826" y="6173778"/>
            <a:ext cx="1340070" cy="345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5"/>
              </a:lnSpc>
            </a:pPr>
            <a:r>
              <a:rPr lang="en-US" sz="2304" b="1" dirty="0">
                <a:solidFill>
                  <a:srgbClr val="A76F2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FID 99.57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111721" y="6516352"/>
            <a:ext cx="3251618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Rejected for quality; retained for class control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5153914" y="5617875"/>
            <a:ext cx="3785919" cy="1416285"/>
            <a:chOff x="0" y="0"/>
            <a:chExt cx="5150066" cy="1926603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5149977" cy="1926615"/>
            </a:xfrm>
            <a:custGeom>
              <a:avLst/>
              <a:gdLst/>
              <a:ahLst/>
              <a:cxnLst/>
              <a:rect l="l" t="t" r="r" b="b"/>
              <a:pathLst>
                <a:path w="5149977" h="1926615">
                  <a:moveTo>
                    <a:pt x="0" y="296377"/>
                  </a:moveTo>
                  <a:cubicBezTo>
                    <a:pt x="0" y="132696"/>
                    <a:pt x="100076" y="0"/>
                    <a:pt x="223520" y="0"/>
                  </a:cubicBezTo>
                  <a:lnTo>
                    <a:pt x="4926457" y="0"/>
                  </a:lnTo>
                  <a:cubicBezTo>
                    <a:pt x="5049901" y="0"/>
                    <a:pt x="5149977" y="132696"/>
                    <a:pt x="5149977" y="296377"/>
                  </a:cubicBezTo>
                  <a:lnTo>
                    <a:pt x="5149977" y="1630242"/>
                  </a:lnTo>
                  <a:cubicBezTo>
                    <a:pt x="5149977" y="1793923"/>
                    <a:pt x="5049901" y="1926615"/>
                    <a:pt x="4926457" y="1926615"/>
                  </a:cubicBezTo>
                  <a:lnTo>
                    <a:pt x="223520" y="1926615"/>
                  </a:lnTo>
                  <a:cubicBezTo>
                    <a:pt x="100076" y="1926615"/>
                    <a:pt x="0" y="1793923"/>
                    <a:pt x="0" y="1630242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4377" r="-1" b="10205"/>
              </a:stretch>
            </a:blipFill>
            <a:ln w="19065" cap="sq">
              <a:solidFill>
                <a:srgbClr val="2F7D50"/>
              </a:solidFill>
              <a:prstDash val="solid"/>
              <a:miter/>
            </a:ln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5833473" y="5833482"/>
            <a:ext cx="2381012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>
                <a:solidFill>
                  <a:srgbClr val="2B031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 . Longer Training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365243" y="6233532"/>
            <a:ext cx="1292457" cy="345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5"/>
              </a:lnSpc>
            </a:pPr>
            <a:r>
              <a:rPr lang="en-US" sz="2304" b="1">
                <a:solidFill>
                  <a:srgbClr val="2F7D5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FID 83.71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5385662" y="6613242"/>
            <a:ext cx="3251618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Accepted</a:t>
            </a:r>
          </a:p>
        </p:txBody>
      </p:sp>
      <p:grpSp>
        <p:nvGrpSpPr>
          <p:cNvPr id="54" name="Group 54"/>
          <p:cNvGrpSpPr/>
          <p:nvPr/>
        </p:nvGrpSpPr>
        <p:grpSpPr>
          <a:xfrm>
            <a:off x="9427855" y="5617875"/>
            <a:ext cx="3785919" cy="1416285"/>
            <a:chOff x="0" y="0"/>
            <a:chExt cx="5150066" cy="1926603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5149977" cy="1926615"/>
            </a:xfrm>
            <a:custGeom>
              <a:avLst/>
              <a:gdLst/>
              <a:ahLst/>
              <a:cxnLst/>
              <a:rect l="l" t="t" r="r" b="b"/>
              <a:pathLst>
                <a:path w="5149977" h="1926615">
                  <a:moveTo>
                    <a:pt x="0" y="296377"/>
                  </a:moveTo>
                  <a:cubicBezTo>
                    <a:pt x="0" y="132696"/>
                    <a:pt x="100076" y="0"/>
                    <a:pt x="223520" y="0"/>
                  </a:cubicBezTo>
                  <a:lnTo>
                    <a:pt x="4926457" y="0"/>
                  </a:lnTo>
                  <a:cubicBezTo>
                    <a:pt x="5049901" y="0"/>
                    <a:pt x="5149977" y="132696"/>
                    <a:pt x="5149977" y="296377"/>
                  </a:cubicBezTo>
                  <a:lnTo>
                    <a:pt x="5149977" y="1630242"/>
                  </a:lnTo>
                  <a:cubicBezTo>
                    <a:pt x="5149977" y="1793923"/>
                    <a:pt x="5049901" y="1926615"/>
                    <a:pt x="4926457" y="1926615"/>
                  </a:cubicBezTo>
                  <a:lnTo>
                    <a:pt x="223520" y="1926615"/>
                  </a:lnTo>
                  <a:cubicBezTo>
                    <a:pt x="100076" y="1926615"/>
                    <a:pt x="0" y="1793923"/>
                    <a:pt x="0" y="1630242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4377" r="-1" b="10205"/>
              </a:stretch>
            </a:blipFill>
            <a:ln w="19065" cap="sq">
              <a:solidFill>
                <a:srgbClr val="FFDE59"/>
              </a:solidFill>
              <a:prstDash val="solid"/>
              <a:miter/>
            </a:ln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10206658" y="5821027"/>
            <a:ext cx="2286357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2B031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3. Generator EMA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0580831" y="6183303"/>
            <a:ext cx="1273373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5"/>
              </a:lnSpc>
            </a:pPr>
            <a:r>
              <a:rPr lang="en-US" sz="2304" b="1">
                <a:solidFill>
                  <a:srgbClr val="D7AC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FID 75.27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9602133" y="6583353"/>
            <a:ext cx="3437363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Accepted + final quality model</a:t>
            </a:r>
          </a:p>
        </p:txBody>
      </p:sp>
      <p:grpSp>
        <p:nvGrpSpPr>
          <p:cNvPr id="59" name="Group 59"/>
          <p:cNvGrpSpPr/>
          <p:nvPr/>
        </p:nvGrpSpPr>
        <p:grpSpPr>
          <a:xfrm>
            <a:off x="13758394" y="5617875"/>
            <a:ext cx="3785919" cy="1416285"/>
            <a:chOff x="0" y="0"/>
            <a:chExt cx="5150066" cy="1926603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5149977" cy="1926615"/>
            </a:xfrm>
            <a:custGeom>
              <a:avLst/>
              <a:gdLst/>
              <a:ahLst/>
              <a:cxnLst/>
              <a:rect l="l" t="t" r="r" b="b"/>
              <a:pathLst>
                <a:path w="5149977" h="1926615">
                  <a:moveTo>
                    <a:pt x="0" y="296377"/>
                  </a:moveTo>
                  <a:cubicBezTo>
                    <a:pt x="0" y="132696"/>
                    <a:pt x="100076" y="0"/>
                    <a:pt x="223520" y="0"/>
                  </a:cubicBezTo>
                  <a:lnTo>
                    <a:pt x="4926457" y="0"/>
                  </a:lnTo>
                  <a:cubicBezTo>
                    <a:pt x="5049901" y="0"/>
                    <a:pt x="5149977" y="132696"/>
                    <a:pt x="5149977" y="296377"/>
                  </a:cubicBezTo>
                  <a:lnTo>
                    <a:pt x="5149977" y="1630242"/>
                  </a:lnTo>
                  <a:cubicBezTo>
                    <a:pt x="5149977" y="1793923"/>
                    <a:pt x="5049901" y="1926615"/>
                    <a:pt x="4926457" y="1926615"/>
                  </a:cubicBezTo>
                  <a:lnTo>
                    <a:pt x="223520" y="1926615"/>
                  </a:lnTo>
                  <a:cubicBezTo>
                    <a:pt x="100076" y="1926615"/>
                    <a:pt x="0" y="1793923"/>
                    <a:pt x="0" y="1630242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4377" r="-1" b="10205"/>
              </a:stretch>
            </a:blipFill>
            <a:ln w="19065" cap="sq">
              <a:solidFill>
                <a:srgbClr val="A43B48"/>
              </a:solidFill>
              <a:prstDash val="solid"/>
              <a:miter/>
            </a:ln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61" name="TextBox 61"/>
          <p:cNvSpPr txBox="1"/>
          <p:nvPr/>
        </p:nvSpPr>
        <p:spPr>
          <a:xfrm>
            <a:off x="13956916" y="5833482"/>
            <a:ext cx="3388876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>
                <a:solidFill>
                  <a:srgbClr val="2B031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4. Alternative Upsampling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4841248" y="6201134"/>
            <a:ext cx="1462256" cy="345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5"/>
              </a:lnSpc>
            </a:pPr>
            <a:r>
              <a:rPr lang="en-US" sz="2304" b="1">
                <a:solidFill>
                  <a:srgbClr val="A43B4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FID 212.16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4007682" y="6613242"/>
            <a:ext cx="3251618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Rejected</a:t>
            </a:r>
          </a:p>
        </p:txBody>
      </p:sp>
      <p:grpSp>
        <p:nvGrpSpPr>
          <p:cNvPr id="64" name="Group 64"/>
          <p:cNvGrpSpPr/>
          <p:nvPr/>
        </p:nvGrpSpPr>
        <p:grpSpPr>
          <a:xfrm>
            <a:off x="812259" y="7373905"/>
            <a:ext cx="6703318" cy="2366045"/>
            <a:chOff x="0" y="0"/>
            <a:chExt cx="25647405" cy="9052667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25647390" cy="9052029"/>
            </a:xfrm>
            <a:custGeom>
              <a:avLst/>
              <a:gdLst/>
              <a:ahLst/>
              <a:cxnLst/>
              <a:rect l="l" t="t" r="r" b="b"/>
              <a:pathLst>
                <a:path w="25647390" h="9052029">
                  <a:moveTo>
                    <a:pt x="0" y="1508671"/>
                  </a:moveTo>
                  <a:cubicBezTo>
                    <a:pt x="0" y="676191"/>
                    <a:pt x="63336" y="0"/>
                    <a:pt x="141312" y="0"/>
                  </a:cubicBezTo>
                  <a:lnTo>
                    <a:pt x="25506077" y="0"/>
                  </a:lnTo>
                  <a:cubicBezTo>
                    <a:pt x="25584203" y="0"/>
                    <a:pt x="25647390" y="676191"/>
                    <a:pt x="25647390" y="1508671"/>
                  </a:cubicBezTo>
                  <a:lnTo>
                    <a:pt x="25647390" y="7543357"/>
                  </a:lnTo>
                  <a:cubicBezTo>
                    <a:pt x="25647390" y="8377433"/>
                    <a:pt x="25584052" y="9052029"/>
                    <a:pt x="25506077" y="9052029"/>
                  </a:cubicBezTo>
                  <a:lnTo>
                    <a:pt x="141312" y="9052029"/>
                  </a:lnTo>
                  <a:cubicBezTo>
                    <a:pt x="63336" y="9052029"/>
                    <a:pt x="0" y="8377433"/>
                    <a:pt x="0" y="7543357"/>
                  </a:cubicBezTo>
                  <a:close/>
                </a:path>
              </a:pathLst>
            </a:custGeom>
            <a:solidFill>
              <a:srgbClr val="FBECEF"/>
            </a:solidFill>
            <a:ln w="19065" cap="sq">
              <a:solidFill>
                <a:srgbClr val="D8A8BB"/>
              </a:solidFill>
              <a:prstDash val="solid"/>
              <a:miter/>
            </a:ln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983052" y="7480077"/>
            <a:ext cx="6238735" cy="2191801"/>
            <a:chOff x="0" y="0"/>
            <a:chExt cx="7211908" cy="2533698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7211913" cy="2533668"/>
            </a:xfrm>
            <a:custGeom>
              <a:avLst/>
              <a:gdLst/>
              <a:ahLst/>
              <a:cxnLst/>
              <a:rect l="l" t="t" r="r" b="b"/>
              <a:pathLst>
                <a:path w="7211913" h="2533668">
                  <a:moveTo>
                    <a:pt x="0" y="0"/>
                  </a:moveTo>
                  <a:lnTo>
                    <a:pt x="7211913" y="0"/>
                  </a:lnTo>
                  <a:lnTo>
                    <a:pt x="7211913" y="2533668"/>
                  </a:lnTo>
                  <a:lnTo>
                    <a:pt x="0" y="25336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2079" r="-66224" b="-2306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0" y="9525"/>
              <a:ext cx="7211908" cy="25241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59"/>
                </a:lnSpc>
              </a:pPr>
              <a:r>
                <a:rPr lang="en-US" sz="2466" b="1">
                  <a:solidFill>
                    <a:srgbClr val="111111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Final Model — Epoch 100 EMA DCGAN</a:t>
              </a:r>
            </a:p>
            <a:p>
              <a:pPr marL="532471" lvl="1" indent="-266235" algn="l">
                <a:lnSpc>
                  <a:spcPts val="2959"/>
                </a:lnSpc>
                <a:buFont typeface="Arial"/>
                <a:buChar char="•"/>
              </a:pPr>
              <a:r>
                <a:rPr lang="en-US" sz="2466" b="1">
                  <a:solidFill>
                    <a:srgbClr val="111111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</a:t>
              </a:r>
              <a:r>
                <a:rPr lang="en-US" sz="2466">
                  <a:solidFill>
                    <a:srgbClr val="111111"/>
                  </a:solidFill>
                  <a:latin typeface="Canva Sans"/>
                  <a:ea typeface="Canva Sans"/>
                  <a:cs typeface="Canva Sans"/>
                  <a:sym typeface="Canva Sans"/>
                </a:rPr>
                <a:t>Validation FID: 75.27</a:t>
              </a:r>
            </a:p>
            <a:p>
              <a:pPr marL="532471" lvl="1" indent="-266235" algn="l">
                <a:lnSpc>
                  <a:spcPts val="2959"/>
                </a:lnSpc>
                <a:buFont typeface="Arial"/>
                <a:buChar char="•"/>
              </a:pPr>
              <a:r>
                <a:rPr lang="en-US" sz="2466">
                  <a:solidFill>
                    <a:srgbClr val="111111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Post-selection test FID: 74.97</a:t>
              </a:r>
            </a:p>
            <a:p>
              <a:pPr marL="532471" lvl="1" indent="-266235" algn="l">
                <a:lnSpc>
                  <a:spcPts val="2959"/>
                </a:lnSpc>
                <a:buFont typeface="Arial"/>
                <a:buChar char="•"/>
              </a:pPr>
              <a:r>
                <a:rPr lang="en-US" sz="2466">
                  <a:solidFill>
                    <a:srgbClr val="111111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22.39% FID reduction from baseline to final model</a:t>
              </a:r>
            </a:p>
          </p:txBody>
        </p:sp>
      </p:grpSp>
      <p:sp>
        <p:nvSpPr>
          <p:cNvPr id="69" name="TextBox 69"/>
          <p:cNvSpPr txBox="1"/>
          <p:nvPr/>
        </p:nvSpPr>
        <p:spPr>
          <a:xfrm>
            <a:off x="8019702" y="7203164"/>
            <a:ext cx="9906764" cy="2736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1"/>
              </a:lnSpc>
            </a:pPr>
            <a:r>
              <a:rPr lang="en-US" sz="2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FID Sample-Size Sensitivity</a:t>
            </a:r>
          </a:p>
          <a:p>
            <a:pPr algn="l">
              <a:lnSpc>
                <a:spcPts val="2725"/>
              </a:lnSpc>
            </a:pPr>
            <a:r>
              <a:rPr lang="en-US" sz="216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Same final generator — no retraining</a:t>
            </a:r>
          </a:p>
          <a:p>
            <a:pPr marL="466967" lvl="1" indent="-233484" algn="l">
              <a:lnSpc>
                <a:spcPts val="2725"/>
              </a:lnSpc>
              <a:buFont typeface="Arial"/>
              <a:buChar char="•"/>
            </a:pPr>
            <a:r>
              <a:rPr lang="en-US" sz="216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1,000 samples: FID = 74.97</a:t>
            </a:r>
          </a:p>
          <a:p>
            <a:pPr marL="466967" lvl="1" indent="-233484" algn="l">
              <a:lnSpc>
                <a:spcPts val="2725"/>
              </a:lnSpc>
              <a:buFont typeface="Arial"/>
              <a:buChar char="•"/>
            </a:pPr>
            <a:r>
              <a:rPr lang="en-US" sz="216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5,000 samples: FID = 40.13</a:t>
            </a:r>
          </a:p>
          <a:p>
            <a:pPr marL="466967" lvl="1" indent="-233484" algn="l">
              <a:lnSpc>
                <a:spcPts val="2725"/>
              </a:lnSpc>
              <a:buFont typeface="Arial"/>
              <a:buChar char="•"/>
            </a:pPr>
            <a:r>
              <a:rPr lang="en-US" sz="216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Lower FID at 5,000 samples reflects sample-size sensitivity, not model improvement.</a:t>
            </a:r>
          </a:p>
          <a:p>
            <a:pPr marL="466967" lvl="1" indent="-233484" algn="l">
              <a:lnSpc>
                <a:spcPts val="2725"/>
              </a:lnSpc>
              <a:buFont typeface="Arial"/>
              <a:buChar char="•"/>
            </a:pPr>
            <a:r>
              <a:rPr lang="en-US" sz="216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Therefore, FID was only compared under the same sample size and evaluation protocol.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54971" y="466706"/>
            <a:ext cx="16746607" cy="720318"/>
            <a:chOff x="0" y="0"/>
            <a:chExt cx="22328810" cy="96042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328805" cy="960428"/>
            </a:xfrm>
            <a:custGeom>
              <a:avLst/>
              <a:gdLst/>
              <a:ahLst/>
              <a:cxnLst/>
              <a:rect l="l" t="t" r="r" b="b"/>
              <a:pathLst>
                <a:path w="22328805" h="960428">
                  <a:moveTo>
                    <a:pt x="0" y="0"/>
                  </a:moveTo>
                  <a:lnTo>
                    <a:pt x="22328805" y="0"/>
                  </a:lnTo>
                  <a:lnTo>
                    <a:pt x="22328805" y="960428"/>
                  </a:lnTo>
                  <a:lnTo>
                    <a:pt x="0" y="9604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12985" b="-393022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22328810" cy="9604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23"/>
                </a:lnSpc>
              </a:pPr>
              <a:r>
                <a:rPr lang="en-US" sz="3602" b="1">
                  <a:solidFill>
                    <a:srgbClr val="111111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Final EMA DCGAN Generated Image Results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89577" y="1254628"/>
            <a:ext cx="4585173" cy="5739575"/>
            <a:chOff x="0" y="0"/>
            <a:chExt cx="6522733" cy="81649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522720" cy="8164938"/>
            </a:xfrm>
            <a:custGeom>
              <a:avLst/>
              <a:gdLst/>
              <a:ahLst/>
              <a:cxnLst/>
              <a:rect l="l" t="t" r="r" b="b"/>
              <a:pathLst>
                <a:path w="6522720" h="8164938">
                  <a:moveTo>
                    <a:pt x="0" y="208652"/>
                  </a:moveTo>
                  <a:cubicBezTo>
                    <a:pt x="0" y="93388"/>
                    <a:pt x="98679" y="0"/>
                    <a:pt x="220472" y="0"/>
                  </a:cubicBezTo>
                  <a:lnTo>
                    <a:pt x="6302248" y="0"/>
                  </a:lnTo>
                  <a:cubicBezTo>
                    <a:pt x="6424041" y="0"/>
                    <a:pt x="6522720" y="93388"/>
                    <a:pt x="6522720" y="208652"/>
                  </a:cubicBezTo>
                  <a:lnTo>
                    <a:pt x="6522720" y="7956286"/>
                  </a:lnTo>
                  <a:cubicBezTo>
                    <a:pt x="6522720" y="8071550"/>
                    <a:pt x="6424041" y="8164938"/>
                    <a:pt x="6302248" y="8164938"/>
                  </a:cubicBezTo>
                  <a:lnTo>
                    <a:pt x="220472" y="8164938"/>
                  </a:lnTo>
                  <a:cubicBezTo>
                    <a:pt x="98679" y="8164939"/>
                    <a:pt x="0" y="8071550"/>
                    <a:pt x="0" y="7956286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9705" r="-119705" b="-5665"/>
              </a:stretch>
            </a:blipFill>
            <a:ln w="19065" cap="sq">
              <a:solidFill>
                <a:srgbClr val="D9B8C9"/>
              </a:solidFill>
              <a:prstDash val="solid"/>
              <a:miter/>
            </a:ln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2093757" y="1496210"/>
            <a:ext cx="2684145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1"/>
              </a:lnSpc>
            </a:pPr>
            <a:r>
              <a:rPr lang="en-US" sz="2301" b="1">
                <a:solidFill>
                  <a:srgbClr val="2F7D5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Stronger Examples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695255" y="2197574"/>
            <a:ext cx="1619755" cy="1619755"/>
            <a:chOff x="0" y="0"/>
            <a:chExt cx="2159673" cy="2159673"/>
          </a:xfrm>
        </p:grpSpPr>
        <p:sp>
          <p:nvSpPr>
            <p:cNvPr id="9" name="Freeform 9" descr="/mnt/data/final_grid_crops/r0c5.png"/>
            <p:cNvSpPr/>
            <p:nvPr/>
          </p:nvSpPr>
          <p:spPr>
            <a:xfrm>
              <a:off x="0" y="0"/>
              <a:ext cx="2159635" cy="2159635"/>
            </a:xfrm>
            <a:custGeom>
              <a:avLst/>
              <a:gdLst/>
              <a:ahLst/>
              <a:cxnLst/>
              <a:rect l="l" t="t" r="r" b="b"/>
              <a:pathLst>
                <a:path w="2159635" h="2159635">
                  <a:moveTo>
                    <a:pt x="0" y="0"/>
                  </a:moveTo>
                  <a:lnTo>
                    <a:pt x="2159635" y="0"/>
                  </a:lnTo>
                  <a:lnTo>
                    <a:pt x="2159635" y="2159635"/>
                  </a:lnTo>
                  <a:lnTo>
                    <a:pt x="0" y="21596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 b="-1"/>
              </a:stretch>
            </a:blipFill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3637369" y="2197574"/>
            <a:ext cx="1619755" cy="1619755"/>
            <a:chOff x="0" y="0"/>
            <a:chExt cx="2159673" cy="2159673"/>
          </a:xfrm>
        </p:grpSpPr>
        <p:sp>
          <p:nvSpPr>
            <p:cNvPr id="11" name="Freeform 11" descr="/mnt/data/final_grid_crops/r0c9.png"/>
            <p:cNvSpPr/>
            <p:nvPr/>
          </p:nvSpPr>
          <p:spPr>
            <a:xfrm>
              <a:off x="0" y="0"/>
              <a:ext cx="2159635" cy="2159635"/>
            </a:xfrm>
            <a:custGeom>
              <a:avLst/>
              <a:gdLst/>
              <a:ahLst/>
              <a:cxnLst/>
              <a:rect l="l" t="t" r="r" b="b"/>
              <a:pathLst>
                <a:path w="2159635" h="2159635">
                  <a:moveTo>
                    <a:pt x="0" y="0"/>
                  </a:moveTo>
                  <a:lnTo>
                    <a:pt x="2159635" y="0"/>
                  </a:lnTo>
                  <a:lnTo>
                    <a:pt x="2159635" y="2159635"/>
                  </a:lnTo>
                  <a:lnTo>
                    <a:pt x="0" y="21596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1594" r="-11596" b="-2"/>
              </a:stretch>
            </a:blipFill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695255" y="4187947"/>
            <a:ext cx="1619755" cy="1619755"/>
            <a:chOff x="0" y="0"/>
            <a:chExt cx="2159673" cy="2159673"/>
          </a:xfrm>
        </p:grpSpPr>
        <p:sp>
          <p:nvSpPr>
            <p:cNvPr id="13" name="Freeform 13" descr="/mnt/data/final_grid_crops/r2c6.png"/>
            <p:cNvSpPr/>
            <p:nvPr/>
          </p:nvSpPr>
          <p:spPr>
            <a:xfrm>
              <a:off x="0" y="0"/>
              <a:ext cx="2159635" cy="2159635"/>
            </a:xfrm>
            <a:custGeom>
              <a:avLst/>
              <a:gdLst/>
              <a:ahLst/>
              <a:cxnLst/>
              <a:rect l="l" t="t" r="r" b="b"/>
              <a:pathLst>
                <a:path w="2159635" h="2159635">
                  <a:moveTo>
                    <a:pt x="0" y="0"/>
                  </a:moveTo>
                  <a:lnTo>
                    <a:pt x="2159635" y="0"/>
                  </a:lnTo>
                  <a:lnTo>
                    <a:pt x="2159635" y="2159635"/>
                  </a:lnTo>
                  <a:lnTo>
                    <a:pt x="0" y="21596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92" r="-593" b="-2"/>
              </a:stretch>
            </a:blipFill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3637369" y="4217379"/>
            <a:ext cx="1619755" cy="1619755"/>
            <a:chOff x="0" y="0"/>
            <a:chExt cx="2159673" cy="2159673"/>
          </a:xfrm>
        </p:grpSpPr>
        <p:sp>
          <p:nvSpPr>
            <p:cNvPr id="15" name="Freeform 15" descr="/mnt/data/final_grid_crops/r6c0.png"/>
            <p:cNvSpPr/>
            <p:nvPr/>
          </p:nvSpPr>
          <p:spPr>
            <a:xfrm>
              <a:off x="0" y="0"/>
              <a:ext cx="2159635" cy="2159635"/>
            </a:xfrm>
            <a:custGeom>
              <a:avLst/>
              <a:gdLst/>
              <a:ahLst/>
              <a:cxnLst/>
              <a:rect l="l" t="t" r="r" b="b"/>
              <a:pathLst>
                <a:path w="2159635" h="2159635">
                  <a:moveTo>
                    <a:pt x="0" y="0"/>
                  </a:moveTo>
                  <a:lnTo>
                    <a:pt x="2159635" y="0"/>
                  </a:lnTo>
                  <a:lnTo>
                    <a:pt x="2159635" y="2159635"/>
                  </a:lnTo>
                  <a:lnTo>
                    <a:pt x="0" y="21596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1" b="-1"/>
              </a:stretch>
            </a:blipFill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389345" y="5975330"/>
            <a:ext cx="4185637" cy="885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sz="1999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Clearer foreground-background separation and more recognisable object-like structure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6665918" y="1254628"/>
            <a:ext cx="4585173" cy="5733502"/>
            <a:chOff x="0" y="0"/>
            <a:chExt cx="6522733" cy="815631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522720" cy="8156300"/>
            </a:xfrm>
            <a:custGeom>
              <a:avLst/>
              <a:gdLst/>
              <a:ahLst/>
              <a:cxnLst/>
              <a:rect l="l" t="t" r="r" b="b"/>
              <a:pathLst>
                <a:path w="6522720" h="8156300">
                  <a:moveTo>
                    <a:pt x="0" y="208431"/>
                  </a:moveTo>
                  <a:cubicBezTo>
                    <a:pt x="0" y="93290"/>
                    <a:pt x="98679" y="0"/>
                    <a:pt x="220472" y="0"/>
                  </a:cubicBezTo>
                  <a:lnTo>
                    <a:pt x="6302248" y="0"/>
                  </a:lnTo>
                  <a:cubicBezTo>
                    <a:pt x="6424041" y="0"/>
                    <a:pt x="6522720" y="93290"/>
                    <a:pt x="6522720" y="208431"/>
                  </a:cubicBezTo>
                  <a:lnTo>
                    <a:pt x="6522720" y="7947869"/>
                  </a:lnTo>
                  <a:cubicBezTo>
                    <a:pt x="6522720" y="8063010"/>
                    <a:pt x="6424041" y="8156300"/>
                    <a:pt x="6302248" y="8156300"/>
                  </a:cubicBezTo>
                  <a:lnTo>
                    <a:pt x="220472" y="8156300"/>
                  </a:lnTo>
                  <a:cubicBezTo>
                    <a:pt x="98679" y="8156301"/>
                    <a:pt x="0" y="8063010"/>
                    <a:pt x="0" y="7947869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9705" r="-119705" b="-5777"/>
              </a:stretch>
            </a:blipFill>
            <a:ln w="19065" cap="sq">
              <a:solidFill>
                <a:srgbClr val="D9B8C9"/>
              </a:solidFill>
              <a:prstDash val="solid"/>
              <a:miter/>
            </a:ln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7617682" y="1496210"/>
            <a:ext cx="2681645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1"/>
              </a:lnSpc>
            </a:pPr>
            <a:r>
              <a:rPr lang="en-US" sz="2301" b="1">
                <a:solidFill>
                  <a:srgbClr val="A76F2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Marginal Examples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7062397" y="2197574"/>
            <a:ext cx="1619755" cy="1619755"/>
            <a:chOff x="0" y="0"/>
            <a:chExt cx="2159673" cy="2159673"/>
          </a:xfrm>
        </p:grpSpPr>
        <p:sp>
          <p:nvSpPr>
            <p:cNvPr id="21" name="Freeform 21" descr="/mnt/data/final_grid_crops/r3c1.png"/>
            <p:cNvSpPr/>
            <p:nvPr/>
          </p:nvSpPr>
          <p:spPr>
            <a:xfrm>
              <a:off x="0" y="0"/>
              <a:ext cx="2159635" cy="2159635"/>
            </a:xfrm>
            <a:custGeom>
              <a:avLst/>
              <a:gdLst/>
              <a:ahLst/>
              <a:cxnLst/>
              <a:rect l="l" t="t" r="r" b="b"/>
              <a:pathLst>
                <a:path w="2159635" h="2159635">
                  <a:moveTo>
                    <a:pt x="0" y="0"/>
                  </a:moveTo>
                  <a:lnTo>
                    <a:pt x="2159635" y="0"/>
                  </a:lnTo>
                  <a:lnTo>
                    <a:pt x="2159635" y="2159635"/>
                  </a:lnTo>
                  <a:lnTo>
                    <a:pt x="0" y="21596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293" r="-1" b="-296"/>
              </a:stretch>
            </a:blipFill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201550" y="2197574"/>
            <a:ext cx="1619755" cy="1619755"/>
            <a:chOff x="0" y="0"/>
            <a:chExt cx="2159673" cy="2159673"/>
          </a:xfrm>
        </p:grpSpPr>
        <p:sp>
          <p:nvSpPr>
            <p:cNvPr id="23" name="Freeform 23" descr="/mnt/data/final_grid_crops/r5c2.png"/>
            <p:cNvSpPr/>
            <p:nvPr/>
          </p:nvSpPr>
          <p:spPr>
            <a:xfrm>
              <a:off x="0" y="0"/>
              <a:ext cx="2159635" cy="2159635"/>
            </a:xfrm>
            <a:custGeom>
              <a:avLst/>
              <a:gdLst/>
              <a:ahLst/>
              <a:cxnLst/>
              <a:rect l="l" t="t" r="r" b="b"/>
              <a:pathLst>
                <a:path w="2159635" h="2159635">
                  <a:moveTo>
                    <a:pt x="0" y="0"/>
                  </a:moveTo>
                  <a:lnTo>
                    <a:pt x="2159635" y="0"/>
                  </a:lnTo>
                  <a:lnTo>
                    <a:pt x="2159635" y="2159635"/>
                  </a:lnTo>
                  <a:lnTo>
                    <a:pt x="0" y="21596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-1" b="-1"/>
              </a:stretch>
            </a:blipFill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048676" y="4197472"/>
            <a:ext cx="1619755" cy="1619755"/>
            <a:chOff x="0" y="0"/>
            <a:chExt cx="2159673" cy="2159673"/>
          </a:xfrm>
        </p:grpSpPr>
        <p:sp>
          <p:nvSpPr>
            <p:cNvPr id="25" name="Freeform 25" descr="/mnt/data/final_grid_crops/r7c7.png"/>
            <p:cNvSpPr/>
            <p:nvPr/>
          </p:nvSpPr>
          <p:spPr>
            <a:xfrm>
              <a:off x="0" y="0"/>
              <a:ext cx="2159635" cy="2159635"/>
            </a:xfrm>
            <a:custGeom>
              <a:avLst/>
              <a:gdLst/>
              <a:ahLst/>
              <a:cxnLst/>
              <a:rect l="l" t="t" r="r" b="b"/>
              <a:pathLst>
                <a:path w="2159635" h="2159635">
                  <a:moveTo>
                    <a:pt x="0" y="0"/>
                  </a:moveTo>
                  <a:lnTo>
                    <a:pt x="2159635" y="0"/>
                  </a:lnTo>
                  <a:lnTo>
                    <a:pt x="2159635" y="2159635"/>
                  </a:lnTo>
                  <a:lnTo>
                    <a:pt x="0" y="21596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592" r="-593" b="-2"/>
              </a:stretch>
            </a:blipFill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201550" y="4217379"/>
            <a:ext cx="1619755" cy="1619755"/>
            <a:chOff x="0" y="0"/>
            <a:chExt cx="2159673" cy="2159673"/>
          </a:xfrm>
        </p:grpSpPr>
        <p:sp>
          <p:nvSpPr>
            <p:cNvPr id="27" name="Freeform 27" descr="/mnt/data/final_grid_crops/r8c2.png"/>
            <p:cNvSpPr/>
            <p:nvPr/>
          </p:nvSpPr>
          <p:spPr>
            <a:xfrm>
              <a:off x="0" y="0"/>
              <a:ext cx="2159635" cy="2159635"/>
            </a:xfrm>
            <a:custGeom>
              <a:avLst/>
              <a:gdLst/>
              <a:ahLst/>
              <a:cxnLst/>
              <a:rect l="l" t="t" r="r" b="b"/>
              <a:pathLst>
                <a:path w="2159635" h="2159635">
                  <a:moveTo>
                    <a:pt x="0" y="0"/>
                  </a:moveTo>
                  <a:lnTo>
                    <a:pt x="2159635" y="0"/>
                  </a:lnTo>
                  <a:lnTo>
                    <a:pt x="2159635" y="2159635"/>
                  </a:lnTo>
                  <a:lnTo>
                    <a:pt x="0" y="21596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t="-293" r="-1" b="-296"/>
              </a:stretch>
            </a:blipFill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6835986" y="5975330"/>
            <a:ext cx="4185637" cy="885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sz="1999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Plausible global structure, but semantic identity remains ambiguous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12142258" y="1254628"/>
            <a:ext cx="4339344" cy="5733502"/>
            <a:chOff x="0" y="0"/>
            <a:chExt cx="6522733" cy="8618376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6522720" cy="8618363"/>
            </a:xfrm>
            <a:custGeom>
              <a:avLst/>
              <a:gdLst/>
              <a:ahLst/>
              <a:cxnLst/>
              <a:rect l="l" t="t" r="r" b="b"/>
              <a:pathLst>
                <a:path w="6522720" h="8618363">
                  <a:moveTo>
                    <a:pt x="0" y="220239"/>
                  </a:moveTo>
                  <a:cubicBezTo>
                    <a:pt x="0" y="98575"/>
                    <a:pt x="98679" y="0"/>
                    <a:pt x="220472" y="0"/>
                  </a:cubicBezTo>
                  <a:lnTo>
                    <a:pt x="6302248" y="0"/>
                  </a:lnTo>
                  <a:cubicBezTo>
                    <a:pt x="6424041" y="0"/>
                    <a:pt x="6522720" y="98575"/>
                    <a:pt x="6522720" y="220239"/>
                  </a:cubicBezTo>
                  <a:lnTo>
                    <a:pt x="6522720" y="8398125"/>
                  </a:lnTo>
                  <a:cubicBezTo>
                    <a:pt x="6522720" y="8519788"/>
                    <a:pt x="6424041" y="8618363"/>
                    <a:pt x="6302248" y="8618363"/>
                  </a:cubicBezTo>
                  <a:lnTo>
                    <a:pt x="220472" y="8618363"/>
                  </a:lnTo>
                  <a:cubicBezTo>
                    <a:pt x="98679" y="8618364"/>
                    <a:pt x="0" y="8519788"/>
                    <a:pt x="0" y="8398125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9705" r="-119705" b="-106"/>
              </a:stretch>
            </a:blipFill>
            <a:ln w="19065" cap="sq">
              <a:solidFill>
                <a:srgbClr val="D9B8C9"/>
              </a:solidFill>
              <a:prstDash val="solid"/>
              <a:miter/>
            </a:ln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3285651" y="1496210"/>
            <a:ext cx="2113598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1"/>
              </a:lnSpc>
            </a:pPr>
            <a:r>
              <a:rPr lang="en-US" sz="2301" b="1">
                <a:solidFill>
                  <a:srgbClr val="A43B4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Poor Examples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12538649" y="2197574"/>
            <a:ext cx="1619755" cy="1619755"/>
            <a:chOff x="0" y="0"/>
            <a:chExt cx="2159673" cy="2159673"/>
          </a:xfrm>
        </p:grpSpPr>
        <p:sp>
          <p:nvSpPr>
            <p:cNvPr id="33" name="Freeform 33" descr="/mnt/data/final_grid_crops/r3c3.png"/>
            <p:cNvSpPr/>
            <p:nvPr/>
          </p:nvSpPr>
          <p:spPr>
            <a:xfrm>
              <a:off x="0" y="0"/>
              <a:ext cx="2159635" cy="2159635"/>
            </a:xfrm>
            <a:custGeom>
              <a:avLst/>
              <a:gdLst/>
              <a:ahLst/>
              <a:cxnLst/>
              <a:rect l="l" t="t" r="r" b="b"/>
              <a:pathLst>
                <a:path w="2159635" h="2159635">
                  <a:moveTo>
                    <a:pt x="0" y="0"/>
                  </a:moveTo>
                  <a:lnTo>
                    <a:pt x="2159635" y="0"/>
                  </a:lnTo>
                  <a:lnTo>
                    <a:pt x="2159635" y="2159635"/>
                  </a:lnTo>
                  <a:lnTo>
                    <a:pt x="0" y="21596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t="-293" r="-1" b="-296"/>
              </a:stretch>
            </a:blipFill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4482254" y="2197574"/>
            <a:ext cx="1619755" cy="1619755"/>
            <a:chOff x="0" y="0"/>
            <a:chExt cx="2159673" cy="2159673"/>
          </a:xfrm>
        </p:grpSpPr>
        <p:sp>
          <p:nvSpPr>
            <p:cNvPr id="35" name="Freeform 35" descr="/mnt/data/final_grid_crops/r3c4.png"/>
            <p:cNvSpPr/>
            <p:nvPr/>
          </p:nvSpPr>
          <p:spPr>
            <a:xfrm>
              <a:off x="0" y="0"/>
              <a:ext cx="2159635" cy="2159635"/>
            </a:xfrm>
            <a:custGeom>
              <a:avLst/>
              <a:gdLst/>
              <a:ahLst/>
              <a:cxnLst/>
              <a:rect l="l" t="t" r="r" b="b"/>
              <a:pathLst>
                <a:path w="2159635" h="2159635">
                  <a:moveTo>
                    <a:pt x="0" y="0"/>
                  </a:moveTo>
                  <a:lnTo>
                    <a:pt x="2159635" y="0"/>
                  </a:lnTo>
                  <a:lnTo>
                    <a:pt x="2159635" y="2159635"/>
                  </a:lnTo>
                  <a:lnTo>
                    <a:pt x="0" y="21596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r="-1" b="-1"/>
              </a:stretch>
            </a:blipFill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2538649" y="4187947"/>
            <a:ext cx="1619755" cy="1619755"/>
            <a:chOff x="0" y="0"/>
            <a:chExt cx="2159673" cy="2159673"/>
          </a:xfrm>
        </p:grpSpPr>
        <p:sp>
          <p:nvSpPr>
            <p:cNvPr id="37" name="Freeform 37" descr="/mnt/data/final_grid_crops/r5c5.png"/>
            <p:cNvSpPr/>
            <p:nvPr/>
          </p:nvSpPr>
          <p:spPr>
            <a:xfrm>
              <a:off x="0" y="0"/>
              <a:ext cx="2159635" cy="2159635"/>
            </a:xfrm>
            <a:custGeom>
              <a:avLst/>
              <a:gdLst/>
              <a:ahLst/>
              <a:cxnLst/>
              <a:rect l="l" t="t" r="r" b="b"/>
              <a:pathLst>
                <a:path w="2159635" h="2159635">
                  <a:moveTo>
                    <a:pt x="0" y="0"/>
                  </a:moveTo>
                  <a:lnTo>
                    <a:pt x="2159635" y="0"/>
                  </a:lnTo>
                  <a:lnTo>
                    <a:pt x="2159635" y="2159635"/>
                  </a:lnTo>
                  <a:lnTo>
                    <a:pt x="0" y="21596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r="-1" b="-1"/>
              </a:stretch>
            </a:blipFill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4482254" y="4217379"/>
            <a:ext cx="1619755" cy="1619755"/>
            <a:chOff x="0" y="0"/>
            <a:chExt cx="2159673" cy="2159673"/>
          </a:xfrm>
        </p:grpSpPr>
        <p:sp>
          <p:nvSpPr>
            <p:cNvPr id="39" name="Freeform 39" descr="/mnt/data/final_grid_crops/r5c9.png"/>
            <p:cNvSpPr/>
            <p:nvPr/>
          </p:nvSpPr>
          <p:spPr>
            <a:xfrm>
              <a:off x="0" y="0"/>
              <a:ext cx="2159635" cy="2159635"/>
            </a:xfrm>
            <a:custGeom>
              <a:avLst/>
              <a:gdLst/>
              <a:ahLst/>
              <a:cxnLst/>
              <a:rect l="l" t="t" r="r" b="b"/>
              <a:pathLst>
                <a:path w="2159635" h="2159635">
                  <a:moveTo>
                    <a:pt x="0" y="0"/>
                  </a:moveTo>
                  <a:lnTo>
                    <a:pt x="2159635" y="0"/>
                  </a:lnTo>
                  <a:lnTo>
                    <a:pt x="2159635" y="2159635"/>
                  </a:lnTo>
                  <a:lnTo>
                    <a:pt x="0" y="21596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r="-1" b="-1"/>
              </a:stretch>
            </a:blipFill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2175607" y="6122968"/>
            <a:ext cx="4185637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sz="1999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Blurred, distorted or poorly defined object structure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1222191" y="7279952"/>
            <a:ext cx="15139054" cy="2678302"/>
            <a:chOff x="0" y="0"/>
            <a:chExt cx="20345883" cy="359945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20345870" cy="3599206"/>
            </a:xfrm>
            <a:custGeom>
              <a:avLst/>
              <a:gdLst/>
              <a:ahLst/>
              <a:cxnLst/>
              <a:rect l="l" t="t" r="r" b="b"/>
              <a:pathLst>
                <a:path w="20345870" h="3599206">
                  <a:moveTo>
                    <a:pt x="0" y="599868"/>
                  </a:moveTo>
                  <a:cubicBezTo>
                    <a:pt x="0" y="268862"/>
                    <a:pt x="50244" y="0"/>
                    <a:pt x="112102" y="0"/>
                  </a:cubicBezTo>
                  <a:lnTo>
                    <a:pt x="20233770" y="0"/>
                  </a:lnTo>
                  <a:cubicBezTo>
                    <a:pt x="20295744" y="0"/>
                    <a:pt x="20345870" y="268862"/>
                    <a:pt x="20345870" y="599868"/>
                  </a:cubicBezTo>
                  <a:lnTo>
                    <a:pt x="20345870" y="2999338"/>
                  </a:lnTo>
                  <a:cubicBezTo>
                    <a:pt x="20345870" y="3330977"/>
                    <a:pt x="20295626" y="3599206"/>
                    <a:pt x="20233770" y="3599206"/>
                  </a:cubicBezTo>
                  <a:lnTo>
                    <a:pt x="112102" y="3599206"/>
                  </a:lnTo>
                  <a:cubicBezTo>
                    <a:pt x="50244" y="3599206"/>
                    <a:pt x="0" y="3330977"/>
                    <a:pt x="0" y="2999338"/>
                  </a:cubicBezTo>
                  <a:close/>
                </a:path>
              </a:pathLst>
            </a:custGeom>
            <a:solidFill>
              <a:srgbClr val="FBECEF"/>
            </a:solidFill>
            <a:ln w="19065" cap="sq">
              <a:solidFill>
                <a:srgbClr val="D8A8BB"/>
              </a:solidFill>
              <a:prstDash val="solid"/>
              <a:miter/>
            </a:ln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1468755" y="7133203"/>
            <a:ext cx="14920100" cy="297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1"/>
              </a:lnSpc>
            </a:pPr>
            <a:endParaRPr/>
          </a:p>
          <a:p>
            <a:pPr algn="l">
              <a:lnSpc>
                <a:spcPts val="2901"/>
              </a:lnSpc>
            </a:pPr>
            <a:r>
              <a:rPr lang="en-US" sz="2418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Overall Qualitative Result</a:t>
            </a:r>
          </a:p>
          <a:p>
            <a:pPr marL="522070" lvl="1" indent="-261035" algn="l">
              <a:lnSpc>
                <a:spcPts val="2901"/>
              </a:lnSpc>
              <a:spcBef>
                <a:spcPct val="0"/>
              </a:spcBef>
              <a:buFont typeface="Arial"/>
              <a:buChar char="•"/>
            </a:pPr>
            <a:r>
              <a:rPr lang="en-US" sz="241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Final EMA samples show varied colour, foreground shape, object position and background composition.</a:t>
            </a:r>
          </a:p>
          <a:p>
            <a:pPr marL="522070" lvl="1" indent="-261035" algn="l">
              <a:lnSpc>
                <a:spcPts val="2901"/>
              </a:lnSpc>
              <a:spcBef>
                <a:spcPct val="0"/>
              </a:spcBef>
              <a:buFont typeface="Arial"/>
              <a:buChar char="•"/>
            </a:pPr>
            <a:r>
              <a:rPr lang="en-US" sz="241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Many samples contain clearer object-like regions and foreground–background separation.</a:t>
            </a:r>
          </a:p>
          <a:p>
            <a:pPr marL="522070" lvl="1" indent="-261035" algn="l">
              <a:lnSpc>
                <a:spcPts val="2901"/>
              </a:lnSpc>
              <a:spcBef>
                <a:spcPct val="0"/>
              </a:spcBef>
              <a:buFont typeface="Arial"/>
              <a:buChar char="•"/>
            </a:pPr>
            <a:r>
              <a:rPr lang="en-US" sz="241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Some outputs remain blurred or semantically ambiguous, with fine detail limited at 32 × 32.</a:t>
            </a:r>
          </a:p>
          <a:p>
            <a:pPr marL="522070" lvl="1" indent="-261035" algn="l">
              <a:lnSpc>
                <a:spcPts val="2901"/>
              </a:lnSpc>
              <a:spcBef>
                <a:spcPct val="0"/>
              </a:spcBef>
              <a:buFont typeface="Arial"/>
              <a:buChar char="•"/>
            </a:pPr>
            <a:r>
              <a:rPr lang="en-US" sz="241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No obvious visual evidence of severe output repetition.</a:t>
            </a:r>
          </a:p>
          <a:p>
            <a:pPr algn="ctr">
              <a:lnSpc>
                <a:spcPts val="3501"/>
              </a:lnSpc>
              <a:spcBef>
                <a:spcPct val="0"/>
              </a:spcBef>
            </a:pPr>
            <a:endParaRPr lang="en-US" sz="2418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1576" t="-3683" r="-850" b="-48743"/>
            </a:stretch>
          </a:blipFill>
        </p:spPr>
        <p:txBody>
          <a:bodyPr/>
          <a:lstStyle/>
          <a:p>
            <a:endParaRPr lang="en-SG"/>
          </a:p>
        </p:txBody>
      </p:sp>
      <p:grpSp>
        <p:nvGrpSpPr>
          <p:cNvPr id="3" name="Group 3"/>
          <p:cNvGrpSpPr/>
          <p:nvPr/>
        </p:nvGrpSpPr>
        <p:grpSpPr>
          <a:xfrm>
            <a:off x="825571" y="648590"/>
            <a:ext cx="16636859" cy="8989819"/>
            <a:chOff x="0" y="0"/>
            <a:chExt cx="4381724" cy="236768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381724" cy="2367689"/>
            </a:xfrm>
            <a:custGeom>
              <a:avLst/>
              <a:gdLst/>
              <a:ahLst/>
              <a:cxnLst/>
              <a:rect l="l" t="t" r="r" b="b"/>
              <a:pathLst>
                <a:path w="4381724" h="2367689">
                  <a:moveTo>
                    <a:pt x="0" y="0"/>
                  </a:moveTo>
                  <a:lnTo>
                    <a:pt x="4381724" y="0"/>
                  </a:lnTo>
                  <a:lnTo>
                    <a:pt x="4381724" y="2367689"/>
                  </a:lnTo>
                  <a:lnTo>
                    <a:pt x="0" y="2367689"/>
                  </a:lnTo>
                  <a:close/>
                </a:path>
              </a:pathLst>
            </a:custGeom>
            <a:ln w="38100" cap="sq">
              <a:solidFill>
                <a:srgbClr val="F3F0F1"/>
              </a:solidFill>
              <a:prstDash val="solid"/>
              <a:miter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38100"/>
              <a:ext cx="4381724" cy="23295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56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4507689"/>
            <a:ext cx="16230600" cy="1481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103"/>
              </a:lnSpc>
            </a:pPr>
            <a:r>
              <a:rPr lang="en-US" sz="11103" spc="2986">
                <a:solidFill>
                  <a:srgbClr val="260317"/>
                </a:solidFill>
                <a:latin typeface="Canva Sans"/>
                <a:ea typeface="Canva Sans"/>
                <a:cs typeface="Canva Sans"/>
                <a:sym typeface="Canva Sans"/>
              </a:rPr>
              <a:t>THANK YOU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213360" y="6372269"/>
            <a:ext cx="5861279" cy="210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2"/>
              </a:lnSpc>
            </a:pPr>
            <a:r>
              <a:rPr lang="en-US" sz="1542" spc="33">
                <a:solidFill>
                  <a:srgbClr val="260317"/>
                </a:solidFill>
                <a:latin typeface="Montserrat"/>
                <a:ea typeface="Montserrat"/>
                <a:cs typeface="Montserrat"/>
                <a:sym typeface="Montserrat"/>
              </a:rPr>
              <a:t>www.reallygreatsite.com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782</Words>
  <Application>Microsoft Office PowerPoint</Application>
  <PresentationFormat>Custom</PresentationFormat>
  <Paragraphs>185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Canva Sans Bold</vt:lpstr>
      <vt:lpstr>Arial</vt:lpstr>
      <vt:lpstr>Montserrat</vt:lpstr>
      <vt:lpstr>Calibri</vt:lpstr>
      <vt:lpstr>Canva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Pink Minimalist Proposal Presentation</dc:title>
  <dc:creator>Thawdar Lin Wai</dc:creator>
  <cp:lastModifiedBy>TOH KE TING</cp:lastModifiedBy>
  <cp:revision>2</cp:revision>
  <dcterms:created xsi:type="dcterms:W3CDTF">2006-08-16T00:00:00Z</dcterms:created>
  <dcterms:modified xsi:type="dcterms:W3CDTF">2026-09-22T11:15:30Z</dcterms:modified>
  <dc:identifier>DAHR4Nwvd6w</dc:identifier>
</cp:coreProperties>
</file>